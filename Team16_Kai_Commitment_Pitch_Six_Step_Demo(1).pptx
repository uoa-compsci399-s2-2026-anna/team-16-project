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71" r:id="rId7"/>
    <p:sldId id="261" r:id="rId8"/>
    <p:sldId id="262" r:id="rId9"/>
    <p:sldId id="263" r:id="rId10"/>
    <p:sldId id="264" r:id="rId11"/>
    <p:sldId id="265" r:id="rId12"/>
    <p:sldId id="266" r:id="rId13"/>
    <p:sldId id="268" r:id="rId14"/>
    <p:sldId id="269" r:id="rId15"/>
    <p:sldId id="267"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8"/>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everyone, we are Team 16. Our project is the Kai Commitment Food Waste Impact Calculator: a New Zealand-focused tool that translates everyday food-waste data into clear environmental and financial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five existing team members shown on the slide. Keep this section brief so the pitch can move quickly into the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if this is not just a bin, but also a receipt? Inside it is money spent, water used, carbon released, and meals that will never be eaten. Most businesses still see only kilograms of waste.</a:t>
            </a:r>
          </a:p>
          <a:p>
            <a:endParaRPr/>
          </a:p>
          <a:p>
            <a:r>
              <a:t>[Sources]</a:t>
            </a:r>
          </a:p>
          <a:p>
            <a:r>
              <a:t>- AI-generated supporting visual; no external factual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restaurant manager can record 100 kilograms of food waste, but the number alone does not answer four practical questions: how much money, how much water, what emissions, and whether composting or landfill is the better choice.</a:t>
            </a:r>
          </a:p>
          <a:p>
            <a:endParaRPr/>
          </a:p>
          <a:p>
            <a:r>
              <a:t>[Sources]</a:t>
            </a:r>
          </a:p>
          <a:p>
            <a:r>
              <a:t>- https://www.fao.org/platforms/green-agriculture/areas-of-work/consumption-food-loss-and-waste/en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Existing tools such as ReFED show what impact calculators can achieve. The opportunity is to build for Kai Commitment’s New Zealand context: relevant food categories, waste destinations, approved impact factors, and local costs where applicable.</a:t>
            </a:r>
          </a:p>
          <a:p>
            <a:endParaRPr/>
          </a:p>
          <a:p>
            <a:r>
              <a:t>[Sources]</a:t>
            </a:r>
          </a:p>
          <a:p>
            <a:r>
              <a:t>- https://insights-engine.refed.org/impact-calculator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prototype guides a business through six clear steps: where the waste occurred, what food it was, how much, where it went, review, and results. This keeps the journey understandable without exposing technical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aim is to connect scientific measures to understandable equivalents: carbon to kilometres driven, water to showers, cost to New Zealand dollars, and wasted food to meal equivalents. Evidence comes before claims, and factors remain updateable as science and costs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food businesses, the calculator can help reveal impact, compare choices, identify hotspots, track improvement, and reduce avoidable costs. For Kai Commitment, it can support consistent factors and reporting while revealing broader waste patterns.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implementation at a high level: the browser collects user input, FastAPI runs the calculation, MySQL supplies factors and data, and Chart.js presents clear results.</a:t>
            </a:r>
          </a:p>
          <a:p>
            <a:endParaRPr/>
          </a:p>
          <a:p>
            <a:r>
              <a:t>[Sources]</a:t>
            </a:r>
          </a:p>
          <a:p>
            <a:r>
              <a:t>- User-provided Team 16 technical architecture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working prototype and complementary skills connect reliable calculations behind the scenes with an interface that food businesses can understand and use. We are not simply building another calculator. We are giving food waste a voice. When businesses can finally see what is inside the bin, they can make better decisions about what happens before food reaches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7.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8.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9.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0.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21" Type="http://schemas.openxmlformats.org/officeDocument/2006/relationships/image" Target="../media/image80.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10.xml"/><Relationship Id="rId16" Type="http://schemas.openxmlformats.org/officeDocument/2006/relationships/image" Target="../media/image75.png"/><Relationship Id="rId20"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19" Type="http://schemas.openxmlformats.org/officeDocument/2006/relationships/image" Target="../media/image78.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s>
</file>

<file path=ppt/slides/_rels/slide11.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96.png"/><Relationship Id="rId3" Type="http://schemas.openxmlformats.org/officeDocument/2006/relationships/image" Target="../media/image28.png"/><Relationship Id="rId7" Type="http://schemas.openxmlformats.org/officeDocument/2006/relationships/image" Target="../media/image85.png"/><Relationship Id="rId12" Type="http://schemas.openxmlformats.org/officeDocument/2006/relationships/image" Target="../media/image90.png"/><Relationship Id="rId17" Type="http://schemas.openxmlformats.org/officeDocument/2006/relationships/image" Target="../media/image95.png"/><Relationship Id="rId2" Type="http://schemas.openxmlformats.org/officeDocument/2006/relationships/notesSlide" Target="../notesSlides/notesSlide11.xml"/><Relationship Id="rId16"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s/_rels/slide12.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11.png"/><Relationship Id="rId3" Type="http://schemas.openxmlformats.org/officeDocument/2006/relationships/image" Target="../media/image28.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10.png"/><Relationship Id="rId2" Type="http://schemas.openxmlformats.org/officeDocument/2006/relationships/notesSlide" Target="../notesSlides/notesSlide12.xml"/><Relationship Id="rId16" Type="http://schemas.openxmlformats.org/officeDocument/2006/relationships/image" Target="../media/image109.png"/><Relationship Id="rId20" Type="http://schemas.openxmlformats.org/officeDocument/2006/relationships/image" Target="../media/image113.png"/><Relationship Id="rId1" Type="http://schemas.openxmlformats.org/officeDocument/2006/relationships/slideLayout" Target="../slideLayouts/slideLayout1.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19" Type="http://schemas.openxmlformats.org/officeDocument/2006/relationships/image" Target="../media/image112.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p:blipFill>
        <p:spPr>
          <a:xfrm>
            <a:off x="695325" y="590550"/>
            <a:ext cx="2552700" cy="742950"/>
          </a:xfrm>
          <a:prstGeom prst="rect">
            <a:avLst/>
          </a:prstGeom>
        </p:spPr>
      </p:pic>
      <p:sp>
        <p:nvSpPr>
          <p:cNvPr id="2" name="cover-title">
            <a:extLst>
              <a:ext uri="{FF2B5EF4-FFF2-40B4-BE49-F238E27FC236}">
                <a16:creationId xmlns:a16="http://schemas.microsoft.com/office/drawing/2014/main" id="{B98C2C41-951A-4DD6-A36A-39FB3FBB8AE1}"/>
              </a:ext>
            </a:extLst>
          </p:cNvPr>
          <p:cNvSpPr>
            <a:spLocks noGrp="1"/>
          </p:cNvSpPr>
          <p:nvPr/>
        </p:nvSpPr>
        <p:spPr>
          <a:xfrm>
            <a:off x="685800" y="1828800"/>
            <a:ext cx="7810500" cy="1524000"/>
          </a:xfrm>
          <a:prstGeom prst="rect">
            <a:avLst/>
          </a:prstGeom>
          <a:noFill/>
          <a:ln w="0">
            <a:noFill/>
            <a:prstDash val="solid"/>
          </a:ln>
        </p:spPr>
        <p:txBody>
          <a:bodyPr/>
          <a:lstStyle/>
          <a:p>
            <a:pPr algn="l">
              <a:buNone/>
              <a:defRPr sz="4350" b="1">
                <a:solidFill>
                  <a:srgbClr val="003223"/>
                </a:solidFill>
              </a:defRPr>
            </a:pPr>
            <a:r>
              <a:rPr sz="4350" b="1">
                <a:solidFill>
                  <a:srgbClr val="003223"/>
                </a:solidFill>
              </a:rPr>
              <a:t>Food waste,</a:t>
            </a:r>
          </a:p>
          <a:p>
            <a:pPr algn="l">
              <a:buNone/>
              <a:defRPr sz="4350" b="1">
                <a:solidFill>
                  <a:srgbClr val="003223"/>
                </a:solidFill>
              </a:defRPr>
            </a:pPr>
            <a:r>
              <a:rPr sz="4350" b="1">
                <a:solidFill>
                  <a:srgbClr val="003223"/>
                </a:solidFill>
              </a:rPr>
              <a:t>made measurable.</a:t>
            </a:r>
          </a:p>
        </p:txBody>
      </p:sp>
      <p:sp>
        <p:nvSpPr>
          <p:cNvPr id="3" name="cover-subtitle">
            <a:extLst>
              <a:ext uri="{FF2B5EF4-FFF2-40B4-BE49-F238E27FC236}">
                <a16:creationId xmlns:a16="http://schemas.microsoft.com/office/drawing/2014/main" id="{50047943-D3B6-4F67-B45F-916B59E00155}"/>
              </a:ext>
            </a:extLst>
          </p:cNvPr>
          <p:cNvSpPr>
            <a:spLocks noGrp="1"/>
          </p:cNvSpPr>
          <p:nvPr/>
        </p:nvSpPr>
        <p:spPr>
          <a:xfrm>
            <a:off x="685800" y="3562350"/>
            <a:ext cx="6477000" cy="99060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Helping New Zealand food businesses understand and reduce food-waste impact by translating everyday waste data into clear environmental and financial results.</a:t>
            </a:r>
          </a:p>
        </p:txBody>
      </p:sp>
      <p:sp>
        <p:nvSpPr>
          <p:cNvPr id="4" name="cover-message">
            <a:extLst>
              <a:ext uri="{FF2B5EF4-FFF2-40B4-BE49-F238E27FC236}">
                <a16:creationId xmlns:a16="http://schemas.microsoft.com/office/drawing/2014/main" id="{8A35A4A4-47CD-4FF0-BD1B-AC8D2AFC2003}"/>
              </a:ext>
            </a:extLst>
          </p:cNvPr>
          <p:cNvSpPr>
            <a:spLocks noGrp="1"/>
          </p:cNvSpPr>
          <p:nvPr/>
        </p:nvSpPr>
        <p:spPr>
          <a:xfrm>
            <a:off x="7810500" y="1676400"/>
            <a:ext cx="3695700" cy="2952750"/>
          </a:xfrm>
          <a:prstGeom prst="roundRect">
            <a:avLst>
              <a:gd name="adj" fmla="val 11613"/>
            </a:avLst>
          </a:prstGeom>
          <a:solidFill>
            <a:srgbClr val="DFF8ED"/>
          </a:solid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5" name="text">
            <a:extLst>
              <a:ext uri="{FF2B5EF4-FFF2-40B4-BE49-F238E27FC236}">
                <a16:creationId xmlns:a16="http://schemas.microsoft.com/office/drawing/2014/main" id="{17EC7975-0F64-4CE9-B074-D8D0A85DB02D}"/>
              </a:ext>
            </a:extLst>
          </p:cNvPr>
          <p:cNvSpPr>
            <a:spLocks noGrp="1"/>
          </p:cNvSpPr>
          <p:nvPr/>
        </p:nvSpPr>
        <p:spPr>
          <a:xfrm>
            <a:off x="8191500" y="2076450"/>
            <a:ext cx="2857500" cy="247650"/>
          </a:xfrm>
          <a:prstGeom prst="rect">
            <a:avLst/>
          </a:prstGeom>
          <a:noFill/>
          <a:ln w="0">
            <a:noFill/>
            <a:prstDash val="solid"/>
          </a:ln>
        </p:spPr>
        <p:txBody>
          <a:bodyPr/>
          <a:lstStyle/>
          <a:p>
            <a:pPr algn="l">
              <a:buNone/>
              <a:defRPr sz="1125" b="1">
                <a:solidFill>
                  <a:srgbClr val="465F56"/>
                </a:solidFill>
              </a:defRPr>
            </a:pPr>
            <a:r>
              <a:rPr sz="1125" b="1">
                <a:solidFill>
                  <a:srgbClr val="465F56"/>
                </a:solidFill>
              </a:rPr>
              <a:t>PROJECT</a:t>
            </a:r>
          </a:p>
        </p:txBody>
      </p:sp>
      <p:sp>
        <p:nvSpPr>
          <p:cNvPr id="6" name="text">
            <a:extLst>
              <a:ext uri="{FF2B5EF4-FFF2-40B4-BE49-F238E27FC236}">
                <a16:creationId xmlns:a16="http://schemas.microsoft.com/office/drawing/2014/main" id="{A9186CED-BE2C-4982-8EEF-CBB769C987EA}"/>
              </a:ext>
            </a:extLst>
          </p:cNvPr>
          <p:cNvSpPr>
            <a:spLocks noGrp="1"/>
          </p:cNvSpPr>
          <p:nvPr/>
        </p:nvSpPr>
        <p:spPr>
          <a:xfrm>
            <a:off x="8191500" y="2571750"/>
            <a:ext cx="2857500" cy="1428750"/>
          </a:xfrm>
          <a:prstGeom prst="rect">
            <a:avLst/>
          </a:prstGeom>
          <a:noFill/>
          <a:ln w="0">
            <a:noFill/>
            <a:prstDash val="solid"/>
          </a:ln>
        </p:spPr>
        <p:txBody>
          <a:bodyPr/>
          <a:lstStyle/>
          <a:p>
            <a:pPr algn="l">
              <a:buNone/>
              <a:defRPr sz="2100" b="1">
                <a:solidFill>
                  <a:srgbClr val="003223"/>
                </a:solidFill>
              </a:defRPr>
            </a:pPr>
            <a:r>
              <a:rPr sz="2100" b="1">
                <a:solidFill>
                  <a:srgbClr val="003223"/>
                </a:solidFill>
              </a:rPr>
              <a:t>Kai Commitment</a:t>
            </a:r>
          </a:p>
          <a:p>
            <a:pPr algn="l">
              <a:buNone/>
              <a:defRPr sz="2100" b="1">
                <a:solidFill>
                  <a:srgbClr val="003223"/>
                </a:solidFill>
              </a:defRPr>
            </a:pPr>
            <a:r>
              <a:rPr sz="2100" b="1">
                <a:solidFill>
                  <a:srgbClr val="003223"/>
                </a:solidFill>
              </a:rPr>
              <a:t>Food Waste Impact</a:t>
            </a:r>
          </a:p>
          <a:p>
            <a:pPr algn="l">
              <a:buNone/>
              <a:defRPr sz="2100" b="1">
                <a:solidFill>
                  <a:srgbClr val="003223"/>
                </a:solidFill>
              </a:defRPr>
            </a:pPr>
            <a:r>
              <a:rPr sz="2100" b="1">
                <a:solidFill>
                  <a:srgbClr val="003223"/>
                </a:solidFill>
              </a:rPr>
              <a:t>Calculator</a:t>
            </a:r>
          </a:p>
        </p:txBody>
      </p:sp>
      <p:sp>
        <p:nvSpPr>
          <p:cNvPr id="7" name="cover-pill">
            <a:extLst>
              <a:ext uri="{FF2B5EF4-FFF2-40B4-BE49-F238E27FC236}">
                <a16:creationId xmlns:a16="http://schemas.microsoft.com/office/drawing/2014/main" id="{85BFD2D0-8A9E-4EB7-9FBC-13E4A0C169B3}"/>
              </a:ext>
            </a:extLst>
          </p:cNvPr>
          <p:cNvSpPr>
            <a:spLocks noGrp="1"/>
          </p:cNvSpPr>
          <p:nvPr/>
        </p:nvSpPr>
        <p:spPr>
          <a:xfrm>
            <a:off x="685800" y="4972050"/>
            <a:ext cx="3524250" cy="533400"/>
          </a:xfrm>
          <a:prstGeom prst="roundRect">
            <a:avLst>
              <a:gd name="adj" fmla="val 50000"/>
            </a:avLst>
          </a:prstGeom>
          <a:solidFill>
            <a:srgbClr val="003223"/>
          </a:solidFill>
          <a:ln w="0">
            <a:noFill/>
            <a:prstDash val="solid"/>
          </a:ln>
        </p:spPr>
        <p:txBody>
          <a:bodyPr/>
          <a:lstStyle/>
          <a:p>
            <a:endParaRPr/>
          </a:p>
        </p:txBody>
      </p:sp>
      <p:sp>
        <p:nvSpPr>
          <p:cNvPr id="8" name="cover-team">
            <a:extLst>
              <a:ext uri="{FF2B5EF4-FFF2-40B4-BE49-F238E27FC236}">
                <a16:creationId xmlns:a16="http://schemas.microsoft.com/office/drawing/2014/main" id="{8688E135-9C5D-495E-83C9-44E05509580F}"/>
              </a:ext>
            </a:extLst>
          </p:cNvPr>
          <p:cNvSpPr>
            <a:spLocks noGrp="1"/>
          </p:cNvSpPr>
          <p:nvPr/>
        </p:nvSpPr>
        <p:spPr>
          <a:xfrm>
            <a:off x="914400" y="5133975"/>
            <a:ext cx="3048000" cy="209550"/>
          </a:xfrm>
          <a:prstGeom prst="rect">
            <a:avLst/>
          </a:prstGeom>
          <a:noFill/>
          <a:ln w="0">
            <a:noFill/>
            <a:prstDash val="solid"/>
          </a:ln>
        </p:spPr>
        <p:txBody>
          <a:bodyPr/>
          <a:lstStyle/>
          <a:p>
            <a:pPr algn="l">
              <a:buNone/>
              <a:defRPr sz="1125" b="1">
                <a:solidFill>
                  <a:srgbClr val="FFFFFF"/>
                </a:solidFill>
              </a:defRPr>
            </a:pPr>
            <a:r>
              <a:rPr sz="1125" b="1">
                <a:solidFill>
                  <a:srgbClr val="FFFFFF"/>
                </a:solidFill>
              </a:rPr>
              <a:t>COMPSCI 399 · TEAM 16</a:t>
            </a:r>
          </a:p>
        </p:txBody>
      </p:sp>
      <p:sp>
        <p:nvSpPr>
          <p:cNvPr id="9" name="text">
            <a:extLst>
              <a:ext uri="{FF2B5EF4-FFF2-40B4-BE49-F238E27FC236}">
                <a16:creationId xmlns:a16="http://schemas.microsoft.com/office/drawing/2014/main" id="{ADAB782C-078C-4A08-830E-63A5EB7612EE}"/>
              </a:ext>
            </a:extLst>
          </p:cNvPr>
          <p:cNvSpPr>
            <a:spLocks noGrp="1"/>
          </p:cNvSpPr>
          <p:nvPr/>
        </p:nvSpPr>
        <p:spPr>
          <a:xfrm>
            <a:off x="685800" y="5848350"/>
            <a:ext cx="2476500" cy="228600"/>
          </a:xfrm>
          <a:prstGeom prst="rect">
            <a:avLst/>
          </a:prstGeom>
          <a:noFill/>
          <a:ln w="0">
            <a:noFill/>
            <a:prstDash val="solid"/>
          </a:ln>
        </p:spPr>
        <p:txBody>
          <a:bodyPr/>
          <a:lstStyle/>
          <a:p>
            <a:pPr algn="l">
              <a:buNone/>
              <a:defRPr sz="1200" b="1">
                <a:solidFill>
                  <a:srgbClr val="465F56"/>
                </a:solidFill>
              </a:defRPr>
            </a:pPr>
            <a:r>
              <a:rPr sz="1200" b="1">
                <a:solidFill>
                  <a:srgbClr val="465F56"/>
                </a:solidFill>
              </a:rPr>
              <a:t>502 Bad Gateway</a:t>
            </a:r>
          </a:p>
        </p:txBody>
      </p:sp>
      <p:sp>
        <p:nvSpPr>
          <p:cNvPr id="11" name="presenter-placeholder">
            <a:extLst>
              <a:ext uri="{FF2B5EF4-FFF2-40B4-BE49-F238E27FC236}">
                <a16:creationId xmlns:a16="http://schemas.microsoft.com/office/drawing/2014/main" id="{96E72744-0B04-4A84-B294-B5DB34E6A747}"/>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[Austin Sha]</a:t>
            </a:r>
          </a:p>
        </p:txBody>
      </p:sp>
    </p:spTree>
    <p:extLst>
      <p:ext uri="{BB962C8B-B14F-4D97-AF65-F5344CB8AC3E}">
        <p14:creationId xmlns:p14="http://schemas.microsoft.com/office/powerpoint/2010/main" val="174468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eyebrow-2">
            <a:extLst>
              <a:ext uri="{FF2B5EF4-FFF2-40B4-BE49-F238E27FC236}">
                <a16:creationId xmlns:a16="http://schemas.microsoft.com/office/drawing/2014/main" id="{15D70899-9048-4D3F-AC1D-93FDA80CBD1B}"/>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2">
            <a:extLst>
              <a:ext uri="{FF2B5EF4-FFF2-40B4-BE49-F238E27FC236}">
                <a16:creationId xmlns:a16="http://schemas.microsoft.com/office/drawing/2014/main" id="{48AA77AA-FB19-4BF7-BA46-6639531F08CC}"/>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02</a:t>
            </a:r>
          </a:p>
        </p:txBody>
      </p:sp>
      <p:sp>
        <p:nvSpPr>
          <p:cNvPr id="3" name="title-2">
            <a:extLst>
              <a:ext uri="{FF2B5EF4-FFF2-40B4-BE49-F238E27FC236}">
                <a16:creationId xmlns:a16="http://schemas.microsoft.com/office/drawing/2014/main" id="{EF250BE7-B70E-4936-880F-64E78A45C66C}"/>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Meet the team</a:t>
            </a:r>
          </a:p>
        </p:txBody>
      </p:sp>
      <p:sp>
        <p:nvSpPr>
          <p:cNvPr id="5" name="椭圆 4">
            <a:extLst>
              <a:ext uri="{FF2B5EF4-FFF2-40B4-BE49-F238E27FC236}">
                <a16:creationId xmlns:a16="http://schemas.microsoft.com/office/drawing/2014/main" id="{18AA4F29-AFAC-44C2-8856-ECA579E2CC67}"/>
              </a:ext>
            </a:extLst>
          </p:cNvPr>
          <p:cNvSpPr>
            <a:spLocks noGrp="1"/>
          </p:cNvSpPr>
          <p:nvPr/>
        </p:nvSpPr>
        <p:spPr>
          <a:xfrm>
            <a:off x="1114425" y="2800351"/>
            <a:ext cx="1066800" cy="1066800"/>
          </a:xfrm>
          <a:prstGeom prst="ellipse">
            <a:avLst/>
          </a:prstGeom>
          <a:solidFill>
            <a:srgbClr val="F4F8F6"/>
          </a:solidFill>
          <a:ln w="0">
            <a:noFill/>
            <a:prstDash val="solid"/>
          </a:ln>
        </p:spPr>
        <p:txBody>
          <a:bodyPr/>
          <a:lstStyle/>
          <a:p>
            <a:endParaRPr/>
          </a:p>
        </p:txBody>
      </p:sp>
      <p:sp>
        <p:nvSpPr>
          <p:cNvPr id="6" name="member-name-1">
            <a:extLst>
              <a:ext uri="{FF2B5EF4-FFF2-40B4-BE49-F238E27FC236}">
                <a16:creationId xmlns:a16="http://schemas.microsoft.com/office/drawing/2014/main" id="{24464ED6-0345-4B05-852A-2153D2053926}"/>
              </a:ext>
            </a:extLst>
          </p:cNvPr>
          <p:cNvSpPr>
            <a:spLocks noGrp="1"/>
          </p:cNvSpPr>
          <p:nvPr/>
        </p:nvSpPr>
        <p:spPr>
          <a:xfrm>
            <a:off x="762000" y="4095751"/>
            <a:ext cx="1771650" cy="285750"/>
          </a:xfrm>
          <a:prstGeom prst="rect">
            <a:avLst/>
          </a:prstGeom>
          <a:noFill/>
          <a:ln w="0">
            <a:noFill/>
            <a:prstDash val="solid"/>
          </a:ln>
        </p:spPr>
        <p:txBody>
          <a:bodyPr/>
          <a:lstStyle/>
          <a:p>
            <a:endParaRPr/>
          </a:p>
        </p:txBody>
      </p:sp>
      <p:sp>
        <p:nvSpPr>
          <p:cNvPr id="7" name="直线连接符 6">
            <a:extLst>
              <a:ext uri="{FF2B5EF4-FFF2-40B4-BE49-F238E27FC236}">
                <a16:creationId xmlns:a16="http://schemas.microsoft.com/office/drawing/2014/main" id="{D6FA5D81-D4D9-4AF9-8C97-BA866C32918B}"/>
              </a:ext>
            </a:extLst>
          </p:cNvPr>
          <p:cNvSpPr>
            <a:spLocks noGrp="1"/>
          </p:cNvSpPr>
          <p:nvPr/>
        </p:nvSpPr>
        <p:spPr>
          <a:xfrm>
            <a:off x="952500" y="4448176"/>
            <a:ext cx="1390650" cy="0"/>
          </a:xfrm>
          <a:prstGeom prst="line">
            <a:avLst/>
          </a:prstGeom>
          <a:noFill/>
          <a:ln w="9525">
            <a:solidFill>
              <a:srgbClr val="C8D7D1"/>
            </a:solidFill>
            <a:prstDash val="solid"/>
          </a:ln>
        </p:spPr>
        <p:txBody>
          <a:bodyPr/>
          <a:lstStyle/>
          <a:p>
            <a:endParaRPr/>
          </a:p>
        </p:txBody>
      </p:sp>
      <p:sp>
        <p:nvSpPr>
          <p:cNvPr id="8" name="member-role-1">
            <a:extLst>
              <a:ext uri="{FF2B5EF4-FFF2-40B4-BE49-F238E27FC236}">
                <a16:creationId xmlns:a16="http://schemas.microsoft.com/office/drawing/2014/main" id="{3478021B-DECE-4EF6-BDD6-1596AB7E54A5}"/>
              </a:ext>
            </a:extLst>
          </p:cNvPr>
          <p:cNvSpPr>
            <a:spLocks noGrp="1"/>
          </p:cNvSpPr>
          <p:nvPr/>
        </p:nvSpPr>
        <p:spPr>
          <a:xfrm>
            <a:off x="685800" y="4629151"/>
            <a:ext cx="1924050" cy="514350"/>
          </a:xfrm>
          <a:prstGeom prst="rect">
            <a:avLst/>
          </a:prstGeom>
          <a:noFill/>
          <a:ln w="0">
            <a:noFill/>
            <a:prstDash val="solid"/>
          </a:ln>
        </p:spPr>
        <p:txBody>
          <a:bodyPr/>
          <a:lstStyle/>
          <a:p>
            <a:pPr algn="ctr">
              <a:buNone/>
              <a:defRPr sz="1200" b="1">
                <a:solidFill>
                  <a:srgbClr val="465F56"/>
                </a:solidFill>
              </a:defRPr>
            </a:pPr>
            <a:r>
              <a:rPr sz="1200" b="1">
                <a:solidFill>
                  <a:srgbClr val="465F56"/>
                </a:solidFill>
              </a:rPr>
              <a:t>Calculation engine</a:t>
            </a:r>
          </a:p>
        </p:txBody>
      </p:sp>
      <p:sp>
        <p:nvSpPr>
          <p:cNvPr id="9" name="椭圆 8">
            <a:extLst>
              <a:ext uri="{FF2B5EF4-FFF2-40B4-BE49-F238E27FC236}">
                <a16:creationId xmlns:a16="http://schemas.microsoft.com/office/drawing/2014/main" id="{5A5C6E3F-F5CA-4572-8822-9F178FB683F8}"/>
              </a:ext>
            </a:extLst>
          </p:cNvPr>
          <p:cNvSpPr>
            <a:spLocks noGrp="1"/>
          </p:cNvSpPr>
          <p:nvPr/>
        </p:nvSpPr>
        <p:spPr>
          <a:xfrm>
            <a:off x="3276600" y="2800351"/>
            <a:ext cx="1066800" cy="1066800"/>
          </a:xfrm>
          <a:prstGeom prst="ellipse">
            <a:avLst/>
          </a:prstGeom>
          <a:solidFill>
            <a:srgbClr val="F4F8F6"/>
          </a:solidFill>
          <a:ln w="0">
            <a:noFill/>
            <a:prstDash val="solid"/>
          </a:ln>
        </p:spPr>
        <p:txBody>
          <a:bodyPr/>
          <a:lstStyle/>
          <a:p>
            <a:endParaRPr/>
          </a:p>
        </p:txBody>
      </p:sp>
      <p:sp>
        <p:nvSpPr>
          <p:cNvPr id="10" name="member-name-2">
            <a:extLst>
              <a:ext uri="{FF2B5EF4-FFF2-40B4-BE49-F238E27FC236}">
                <a16:creationId xmlns:a16="http://schemas.microsoft.com/office/drawing/2014/main" id="{751664FC-83E8-4500-A899-6A7A32BFB053}"/>
              </a:ext>
            </a:extLst>
          </p:cNvPr>
          <p:cNvSpPr>
            <a:spLocks noGrp="1"/>
          </p:cNvSpPr>
          <p:nvPr/>
        </p:nvSpPr>
        <p:spPr>
          <a:xfrm>
            <a:off x="2924175" y="4095751"/>
            <a:ext cx="1771650" cy="285750"/>
          </a:xfrm>
          <a:prstGeom prst="rect">
            <a:avLst/>
          </a:prstGeom>
          <a:noFill/>
          <a:ln w="0">
            <a:noFill/>
            <a:prstDash val="solid"/>
          </a:ln>
        </p:spPr>
        <p:txBody>
          <a:bodyPr/>
          <a:lstStyle/>
          <a:p>
            <a:endParaRPr/>
          </a:p>
        </p:txBody>
      </p:sp>
      <p:sp>
        <p:nvSpPr>
          <p:cNvPr id="11" name="直线连接符 10">
            <a:extLst>
              <a:ext uri="{FF2B5EF4-FFF2-40B4-BE49-F238E27FC236}">
                <a16:creationId xmlns:a16="http://schemas.microsoft.com/office/drawing/2014/main" id="{6884AF9B-6328-4A94-9B00-9F866C84D084}"/>
              </a:ext>
            </a:extLst>
          </p:cNvPr>
          <p:cNvSpPr>
            <a:spLocks noGrp="1"/>
          </p:cNvSpPr>
          <p:nvPr/>
        </p:nvSpPr>
        <p:spPr>
          <a:xfrm>
            <a:off x="3114675" y="4448176"/>
            <a:ext cx="1390650" cy="0"/>
          </a:xfrm>
          <a:prstGeom prst="line">
            <a:avLst/>
          </a:prstGeom>
          <a:noFill/>
          <a:ln w="9525">
            <a:solidFill>
              <a:srgbClr val="C8D7D1"/>
            </a:solidFill>
            <a:prstDash val="solid"/>
          </a:ln>
        </p:spPr>
        <p:txBody>
          <a:bodyPr/>
          <a:lstStyle/>
          <a:p>
            <a:endParaRPr/>
          </a:p>
        </p:txBody>
      </p:sp>
      <p:sp>
        <p:nvSpPr>
          <p:cNvPr id="12" name="member-role-2">
            <a:extLst>
              <a:ext uri="{FF2B5EF4-FFF2-40B4-BE49-F238E27FC236}">
                <a16:creationId xmlns:a16="http://schemas.microsoft.com/office/drawing/2014/main" id="{897A89A9-C73B-44B7-A1EB-C7BC0D9620A3}"/>
              </a:ext>
            </a:extLst>
          </p:cNvPr>
          <p:cNvSpPr>
            <a:spLocks noGrp="1"/>
          </p:cNvSpPr>
          <p:nvPr/>
        </p:nvSpPr>
        <p:spPr>
          <a:xfrm>
            <a:off x="2847975" y="4629151"/>
            <a:ext cx="1924050" cy="514350"/>
          </a:xfrm>
          <a:prstGeom prst="rect">
            <a:avLst/>
          </a:prstGeom>
          <a:noFill/>
          <a:ln w="0">
            <a:noFill/>
            <a:prstDash val="solid"/>
          </a:ln>
        </p:spPr>
        <p:txBody>
          <a:bodyPr/>
          <a:lstStyle/>
          <a:p>
            <a:pPr algn="ctr">
              <a:buNone/>
              <a:defRPr sz="1200" b="1">
                <a:solidFill>
                  <a:srgbClr val="465F56"/>
                </a:solidFill>
              </a:defRPr>
            </a:pPr>
            <a:r>
              <a:rPr sz="1200" b="1">
                <a:solidFill>
                  <a:srgbClr val="465F56"/>
                </a:solidFill>
              </a:rPr>
              <a:t>Database &amp; API</a:t>
            </a:r>
          </a:p>
        </p:txBody>
      </p:sp>
      <p:sp>
        <p:nvSpPr>
          <p:cNvPr id="13" name="椭圆 12">
            <a:extLst>
              <a:ext uri="{FF2B5EF4-FFF2-40B4-BE49-F238E27FC236}">
                <a16:creationId xmlns:a16="http://schemas.microsoft.com/office/drawing/2014/main" id="{252B7AAA-C2DF-45DA-B124-F7094C067561}"/>
              </a:ext>
            </a:extLst>
          </p:cNvPr>
          <p:cNvSpPr>
            <a:spLocks noGrp="1"/>
          </p:cNvSpPr>
          <p:nvPr/>
        </p:nvSpPr>
        <p:spPr>
          <a:xfrm>
            <a:off x="5438775" y="2800351"/>
            <a:ext cx="1066800" cy="1066800"/>
          </a:xfrm>
          <a:prstGeom prst="ellipse">
            <a:avLst/>
          </a:prstGeom>
          <a:solidFill>
            <a:srgbClr val="F4F8F6"/>
          </a:solidFill>
          <a:ln w="0">
            <a:noFill/>
            <a:prstDash val="solid"/>
          </a:ln>
        </p:spPr>
        <p:txBody>
          <a:bodyPr/>
          <a:lstStyle/>
          <a:p>
            <a:endParaRPr/>
          </a:p>
        </p:txBody>
      </p:sp>
      <p:sp>
        <p:nvSpPr>
          <p:cNvPr id="14" name="member-name-3">
            <a:extLst>
              <a:ext uri="{FF2B5EF4-FFF2-40B4-BE49-F238E27FC236}">
                <a16:creationId xmlns:a16="http://schemas.microsoft.com/office/drawing/2014/main" id="{74F6BFBE-E3EE-4B9F-8FDD-014D11774168}"/>
              </a:ext>
            </a:extLst>
          </p:cNvPr>
          <p:cNvSpPr>
            <a:spLocks noGrp="1"/>
          </p:cNvSpPr>
          <p:nvPr/>
        </p:nvSpPr>
        <p:spPr>
          <a:xfrm>
            <a:off x="5086350" y="4095751"/>
            <a:ext cx="1771650" cy="285750"/>
          </a:xfrm>
          <a:prstGeom prst="rect">
            <a:avLst/>
          </a:prstGeom>
          <a:noFill/>
          <a:ln w="0">
            <a:noFill/>
            <a:prstDash val="solid"/>
          </a:ln>
        </p:spPr>
        <p:txBody>
          <a:bodyPr/>
          <a:lstStyle/>
          <a:p>
            <a:endParaRPr/>
          </a:p>
        </p:txBody>
      </p:sp>
      <p:sp>
        <p:nvSpPr>
          <p:cNvPr id="15" name="直线连接符 14">
            <a:extLst>
              <a:ext uri="{FF2B5EF4-FFF2-40B4-BE49-F238E27FC236}">
                <a16:creationId xmlns:a16="http://schemas.microsoft.com/office/drawing/2014/main" id="{DDB0ED2D-5AD7-4367-B418-826C3F83B46C}"/>
              </a:ext>
            </a:extLst>
          </p:cNvPr>
          <p:cNvSpPr>
            <a:spLocks noGrp="1"/>
          </p:cNvSpPr>
          <p:nvPr/>
        </p:nvSpPr>
        <p:spPr>
          <a:xfrm>
            <a:off x="5276850" y="4448176"/>
            <a:ext cx="1390650" cy="0"/>
          </a:xfrm>
          <a:prstGeom prst="line">
            <a:avLst/>
          </a:prstGeom>
          <a:noFill/>
          <a:ln w="9525">
            <a:solidFill>
              <a:srgbClr val="C8D7D1"/>
            </a:solidFill>
            <a:prstDash val="solid"/>
          </a:ln>
        </p:spPr>
        <p:txBody>
          <a:bodyPr/>
          <a:lstStyle/>
          <a:p>
            <a:endParaRPr/>
          </a:p>
        </p:txBody>
      </p:sp>
      <p:sp>
        <p:nvSpPr>
          <p:cNvPr id="16" name="member-role-3">
            <a:extLst>
              <a:ext uri="{FF2B5EF4-FFF2-40B4-BE49-F238E27FC236}">
                <a16:creationId xmlns:a16="http://schemas.microsoft.com/office/drawing/2014/main" id="{5B716034-6CDF-4ED5-998B-73BAD9BA5F25}"/>
              </a:ext>
            </a:extLst>
          </p:cNvPr>
          <p:cNvSpPr>
            <a:spLocks noGrp="1"/>
          </p:cNvSpPr>
          <p:nvPr/>
        </p:nvSpPr>
        <p:spPr>
          <a:xfrm>
            <a:off x="5010150" y="4629151"/>
            <a:ext cx="1924050" cy="514350"/>
          </a:xfrm>
          <a:prstGeom prst="rect">
            <a:avLst/>
          </a:prstGeom>
          <a:noFill/>
          <a:ln w="0">
            <a:noFill/>
            <a:prstDash val="solid"/>
          </a:ln>
        </p:spPr>
        <p:txBody>
          <a:bodyPr/>
          <a:lstStyle/>
          <a:p>
            <a:pPr algn="ctr">
              <a:buNone/>
              <a:defRPr sz="1200" b="1">
                <a:solidFill>
                  <a:srgbClr val="465F56"/>
                </a:solidFill>
              </a:defRPr>
            </a:pPr>
            <a:r>
              <a:rPr sz="1200" b="1">
                <a:solidFill>
                  <a:srgbClr val="465F56"/>
                </a:solidFill>
              </a:rPr>
              <a:t>Calculator UX</a:t>
            </a:r>
          </a:p>
        </p:txBody>
      </p:sp>
      <p:sp>
        <p:nvSpPr>
          <p:cNvPr id="17" name="椭圆 16">
            <a:extLst>
              <a:ext uri="{FF2B5EF4-FFF2-40B4-BE49-F238E27FC236}">
                <a16:creationId xmlns:a16="http://schemas.microsoft.com/office/drawing/2014/main" id="{4F2C0ABB-F62A-4A7D-BD63-240B4D9EA8BE}"/>
              </a:ext>
            </a:extLst>
          </p:cNvPr>
          <p:cNvSpPr>
            <a:spLocks noGrp="1"/>
          </p:cNvSpPr>
          <p:nvPr/>
        </p:nvSpPr>
        <p:spPr>
          <a:xfrm>
            <a:off x="7600950" y="2800351"/>
            <a:ext cx="1066800" cy="1066800"/>
          </a:xfrm>
          <a:prstGeom prst="ellipse">
            <a:avLst/>
          </a:prstGeom>
          <a:solidFill>
            <a:srgbClr val="F4F8F6"/>
          </a:solidFill>
          <a:ln w="0">
            <a:noFill/>
            <a:prstDash val="solid"/>
          </a:ln>
        </p:spPr>
        <p:txBody>
          <a:bodyPr/>
          <a:lstStyle/>
          <a:p>
            <a:endParaRPr/>
          </a:p>
        </p:txBody>
      </p:sp>
      <p:sp>
        <p:nvSpPr>
          <p:cNvPr id="18" name="member-name-4">
            <a:extLst>
              <a:ext uri="{FF2B5EF4-FFF2-40B4-BE49-F238E27FC236}">
                <a16:creationId xmlns:a16="http://schemas.microsoft.com/office/drawing/2014/main" id="{6C2B6E07-9C3B-41AB-9075-7ED58831D496}"/>
              </a:ext>
            </a:extLst>
          </p:cNvPr>
          <p:cNvSpPr>
            <a:spLocks noGrp="1"/>
          </p:cNvSpPr>
          <p:nvPr/>
        </p:nvSpPr>
        <p:spPr>
          <a:xfrm>
            <a:off x="7248525" y="4095751"/>
            <a:ext cx="1771650" cy="285750"/>
          </a:xfrm>
          <a:prstGeom prst="rect">
            <a:avLst/>
          </a:prstGeom>
          <a:noFill/>
          <a:ln w="0">
            <a:noFill/>
            <a:prstDash val="solid"/>
          </a:ln>
        </p:spPr>
        <p:txBody>
          <a:bodyPr/>
          <a:lstStyle/>
          <a:p>
            <a:endParaRPr/>
          </a:p>
        </p:txBody>
      </p:sp>
      <p:sp>
        <p:nvSpPr>
          <p:cNvPr id="19" name="直线连接符 18">
            <a:extLst>
              <a:ext uri="{FF2B5EF4-FFF2-40B4-BE49-F238E27FC236}">
                <a16:creationId xmlns:a16="http://schemas.microsoft.com/office/drawing/2014/main" id="{E3AB880B-F25B-43E5-9D93-8E3CD835C9A4}"/>
              </a:ext>
            </a:extLst>
          </p:cNvPr>
          <p:cNvSpPr>
            <a:spLocks noGrp="1"/>
          </p:cNvSpPr>
          <p:nvPr/>
        </p:nvSpPr>
        <p:spPr>
          <a:xfrm>
            <a:off x="7439025" y="4448176"/>
            <a:ext cx="1390650" cy="0"/>
          </a:xfrm>
          <a:prstGeom prst="line">
            <a:avLst/>
          </a:prstGeom>
          <a:noFill/>
          <a:ln w="9525">
            <a:solidFill>
              <a:srgbClr val="C8D7D1"/>
            </a:solidFill>
            <a:prstDash val="solid"/>
          </a:ln>
        </p:spPr>
        <p:txBody>
          <a:bodyPr/>
          <a:lstStyle/>
          <a:p>
            <a:endParaRPr/>
          </a:p>
        </p:txBody>
      </p:sp>
      <p:sp>
        <p:nvSpPr>
          <p:cNvPr id="20" name="member-role-4">
            <a:extLst>
              <a:ext uri="{FF2B5EF4-FFF2-40B4-BE49-F238E27FC236}">
                <a16:creationId xmlns:a16="http://schemas.microsoft.com/office/drawing/2014/main" id="{FFF446A8-8EE7-403E-8265-76DA7D393F3F}"/>
              </a:ext>
            </a:extLst>
          </p:cNvPr>
          <p:cNvSpPr>
            <a:spLocks noGrp="1"/>
          </p:cNvSpPr>
          <p:nvPr/>
        </p:nvSpPr>
        <p:spPr>
          <a:xfrm>
            <a:off x="7172325" y="4629151"/>
            <a:ext cx="1924050" cy="514350"/>
          </a:xfrm>
          <a:prstGeom prst="rect">
            <a:avLst/>
          </a:prstGeom>
          <a:noFill/>
          <a:ln w="0">
            <a:noFill/>
            <a:prstDash val="solid"/>
          </a:ln>
        </p:spPr>
        <p:txBody>
          <a:bodyPr/>
          <a:lstStyle/>
          <a:p>
            <a:pPr algn="ctr">
              <a:buNone/>
              <a:defRPr sz="1200" b="1">
                <a:solidFill>
                  <a:srgbClr val="465F56"/>
                </a:solidFill>
              </a:defRPr>
            </a:pPr>
            <a:r>
              <a:rPr sz="1200" b="1">
                <a:solidFill>
                  <a:srgbClr val="465F56"/>
                </a:solidFill>
              </a:rPr>
              <a:t>Stats &amp; BA </a:t>
            </a:r>
          </a:p>
        </p:txBody>
      </p:sp>
      <p:sp>
        <p:nvSpPr>
          <p:cNvPr id="21" name="椭圆 20">
            <a:extLst>
              <a:ext uri="{FF2B5EF4-FFF2-40B4-BE49-F238E27FC236}">
                <a16:creationId xmlns:a16="http://schemas.microsoft.com/office/drawing/2014/main" id="{C31FB8AF-C38F-496F-B887-589454DEE6F9}"/>
              </a:ext>
            </a:extLst>
          </p:cNvPr>
          <p:cNvSpPr>
            <a:spLocks noGrp="1"/>
          </p:cNvSpPr>
          <p:nvPr/>
        </p:nvSpPr>
        <p:spPr>
          <a:xfrm>
            <a:off x="9763125" y="2800351"/>
            <a:ext cx="1066800" cy="1066800"/>
          </a:xfrm>
          <a:prstGeom prst="ellipse">
            <a:avLst/>
          </a:prstGeom>
          <a:solidFill>
            <a:srgbClr val="F4F8F6"/>
          </a:solidFill>
          <a:ln w="0">
            <a:noFill/>
            <a:prstDash val="solid"/>
          </a:ln>
        </p:spPr>
        <p:txBody>
          <a:bodyPr/>
          <a:lstStyle/>
          <a:p>
            <a:endParaRPr/>
          </a:p>
        </p:txBody>
      </p:sp>
      <p:sp>
        <p:nvSpPr>
          <p:cNvPr id="22" name="member-name-5">
            <a:extLst>
              <a:ext uri="{FF2B5EF4-FFF2-40B4-BE49-F238E27FC236}">
                <a16:creationId xmlns:a16="http://schemas.microsoft.com/office/drawing/2014/main" id="{3C871C5B-A0DB-4546-B9B6-728579ADB571}"/>
              </a:ext>
            </a:extLst>
          </p:cNvPr>
          <p:cNvSpPr>
            <a:spLocks noGrp="1"/>
          </p:cNvSpPr>
          <p:nvPr/>
        </p:nvSpPr>
        <p:spPr>
          <a:xfrm>
            <a:off x="9410700" y="4095751"/>
            <a:ext cx="1771650" cy="285750"/>
          </a:xfrm>
          <a:prstGeom prst="rect">
            <a:avLst/>
          </a:prstGeom>
          <a:noFill/>
          <a:ln w="0">
            <a:noFill/>
            <a:prstDash val="solid"/>
          </a:ln>
        </p:spPr>
        <p:txBody>
          <a:bodyPr/>
          <a:lstStyle/>
          <a:p>
            <a:endParaRPr/>
          </a:p>
        </p:txBody>
      </p:sp>
      <p:sp>
        <p:nvSpPr>
          <p:cNvPr id="23" name="直线连接符 22">
            <a:extLst>
              <a:ext uri="{FF2B5EF4-FFF2-40B4-BE49-F238E27FC236}">
                <a16:creationId xmlns:a16="http://schemas.microsoft.com/office/drawing/2014/main" id="{F610C383-425A-404D-97D1-381A80903BAD}"/>
              </a:ext>
            </a:extLst>
          </p:cNvPr>
          <p:cNvSpPr>
            <a:spLocks noGrp="1"/>
          </p:cNvSpPr>
          <p:nvPr/>
        </p:nvSpPr>
        <p:spPr>
          <a:xfrm>
            <a:off x="9601200" y="4448176"/>
            <a:ext cx="1390650" cy="0"/>
          </a:xfrm>
          <a:prstGeom prst="line">
            <a:avLst/>
          </a:prstGeom>
          <a:noFill/>
          <a:ln w="9525">
            <a:solidFill>
              <a:srgbClr val="C8D7D1"/>
            </a:solidFill>
            <a:prstDash val="solid"/>
          </a:ln>
        </p:spPr>
        <p:txBody>
          <a:bodyPr/>
          <a:lstStyle/>
          <a:p>
            <a:endParaRPr/>
          </a:p>
        </p:txBody>
      </p:sp>
      <p:sp>
        <p:nvSpPr>
          <p:cNvPr id="24" name="member-role-5">
            <a:extLst>
              <a:ext uri="{FF2B5EF4-FFF2-40B4-BE49-F238E27FC236}">
                <a16:creationId xmlns:a16="http://schemas.microsoft.com/office/drawing/2014/main" id="{F1F45CF8-E669-479B-A291-BDF27324E32C}"/>
              </a:ext>
            </a:extLst>
          </p:cNvPr>
          <p:cNvSpPr>
            <a:spLocks noGrp="1"/>
          </p:cNvSpPr>
          <p:nvPr/>
        </p:nvSpPr>
        <p:spPr>
          <a:xfrm>
            <a:off x="9334500" y="4629151"/>
            <a:ext cx="1924050" cy="514350"/>
          </a:xfrm>
          <a:prstGeom prst="rect">
            <a:avLst/>
          </a:prstGeom>
          <a:noFill/>
          <a:ln w="0">
            <a:noFill/>
            <a:prstDash val="solid"/>
          </a:ln>
        </p:spPr>
        <p:txBody>
          <a:bodyPr/>
          <a:lstStyle/>
          <a:p>
            <a:pPr algn="ctr">
              <a:buNone/>
              <a:defRPr sz="1200" b="1">
                <a:solidFill>
                  <a:srgbClr val="465F56"/>
                </a:solidFill>
              </a:defRPr>
            </a:pPr>
            <a:r>
              <a:rPr sz="1200" b="1">
                <a:solidFill>
                  <a:srgbClr val="465F56"/>
                </a:solidFill>
              </a:rPr>
              <a:t>Admin &amp; Panel</a:t>
            </a:r>
          </a:p>
        </p:txBody>
      </p:sp>
      <p:pic>
        <p:nvPicPr>
          <p:cNvPr id="77" name="图片 28"/>
          <p:cNvPicPr>
            <a:picLocks noChangeAspect="1"/>
          </p:cNvPicPr>
          <p:nvPr/>
        </p:nvPicPr>
        <p:blipFill>
          <a:blip r:embed="rId3"/>
          <a:stretch>
            <a:fillRect/>
          </a:stretch>
        </p:blipFill>
        <p:spPr>
          <a:xfrm>
            <a:off x="836612" y="2004131"/>
            <a:ext cx="1601788" cy="2463447"/>
          </a:xfrm>
          <a:prstGeom prst="rect">
            <a:avLst/>
          </a:prstGeom>
        </p:spPr>
      </p:pic>
      <p:pic>
        <p:nvPicPr>
          <p:cNvPr id="78" name="图片 30"/>
          <p:cNvPicPr>
            <a:picLocks noChangeAspect="1"/>
          </p:cNvPicPr>
          <p:nvPr/>
        </p:nvPicPr>
        <p:blipFill>
          <a:blip r:embed="rId4"/>
          <a:stretch>
            <a:fillRect/>
          </a:stretch>
        </p:blipFill>
        <p:spPr>
          <a:xfrm>
            <a:off x="2893484" y="2004132"/>
            <a:ext cx="1802342" cy="2444044"/>
          </a:xfrm>
          <a:prstGeom prst="rect">
            <a:avLst/>
          </a:prstGeom>
        </p:spPr>
      </p:pic>
      <p:pic>
        <p:nvPicPr>
          <p:cNvPr id="79" name="图片 32"/>
          <p:cNvPicPr>
            <a:picLocks noChangeAspect="1"/>
          </p:cNvPicPr>
          <p:nvPr/>
        </p:nvPicPr>
        <p:blipFill>
          <a:blip r:embed="rId5"/>
          <a:srcRect t="14172"/>
          <a:stretch>
            <a:fillRect/>
          </a:stretch>
        </p:blipFill>
        <p:spPr>
          <a:xfrm>
            <a:off x="5123656" y="2000075"/>
            <a:ext cx="1601788" cy="2467504"/>
          </a:xfrm>
          <a:prstGeom prst="rect">
            <a:avLst/>
          </a:prstGeom>
        </p:spPr>
      </p:pic>
      <p:pic>
        <p:nvPicPr>
          <p:cNvPr id="80" name="图片 34"/>
          <p:cNvPicPr>
            <a:picLocks noChangeAspect="1"/>
          </p:cNvPicPr>
          <p:nvPr/>
        </p:nvPicPr>
        <p:blipFill>
          <a:blip r:embed="rId6"/>
          <a:stretch>
            <a:fillRect/>
          </a:stretch>
        </p:blipFill>
        <p:spPr>
          <a:xfrm rot="5400000">
            <a:off x="6902625" y="2345973"/>
            <a:ext cx="2463447" cy="1771651"/>
          </a:xfrm>
          <a:prstGeom prst="rect">
            <a:avLst/>
          </a:prstGeom>
        </p:spPr>
      </p:pic>
      <p:pic>
        <p:nvPicPr>
          <p:cNvPr id="81" name="图片 36"/>
          <p:cNvPicPr>
            <a:picLocks noChangeAspect="1"/>
          </p:cNvPicPr>
          <p:nvPr/>
        </p:nvPicPr>
        <p:blipFill>
          <a:blip r:embed="rId7"/>
          <a:stretch>
            <a:fillRect/>
          </a:stretch>
        </p:blipFill>
        <p:spPr>
          <a:xfrm>
            <a:off x="9477374" y="2000075"/>
            <a:ext cx="1771651" cy="2463447"/>
          </a:xfrm>
          <a:prstGeom prst="rect">
            <a:avLst/>
          </a:prstGeom>
        </p:spPr>
      </p:pic>
      <p:sp>
        <p:nvSpPr>
          <p:cNvPr id="38" name="文本框 37">
            <a:extLst>
              <a:ext uri="{FF2B5EF4-FFF2-40B4-BE49-F238E27FC236}">
                <a16:creationId xmlns:a16="http://schemas.microsoft.com/office/drawing/2014/main" id="{DCFF64C1-57C0-0BDD-7096-A6CC389BD2BB}"/>
              </a:ext>
            </a:extLst>
          </p:cNvPr>
          <p:cNvSpPr>
            <a:spLocks noGrp="1"/>
          </p:cNvSpPr>
          <p:nvPr/>
        </p:nvSpPr>
        <p:spPr>
          <a:xfrm>
            <a:off x="1062038" y="5012267"/>
            <a:ext cx="1162050" cy="369332"/>
          </a:xfrm>
          <a:prstGeom prst="rect">
            <a:avLst/>
          </a:prstGeom>
          <a:noFill/>
        </p:spPr>
        <p:txBody>
          <a:bodyPr wrap="square">
            <a:spAutoFit/>
          </a:bodyPr>
          <a:lstStyle/>
          <a:p>
            <a:r>
              <a:rPr dirty="0"/>
              <a:t>Austin Sha</a:t>
            </a:r>
          </a:p>
        </p:txBody>
      </p:sp>
      <p:sp>
        <p:nvSpPr>
          <p:cNvPr id="39" name="文本框 38">
            <a:extLst>
              <a:ext uri="{FF2B5EF4-FFF2-40B4-BE49-F238E27FC236}">
                <a16:creationId xmlns:a16="http://schemas.microsoft.com/office/drawing/2014/main" id="{249E2DC0-93C6-7605-7709-BEABE1738ABB}"/>
              </a:ext>
            </a:extLst>
          </p:cNvPr>
          <p:cNvSpPr>
            <a:spLocks noGrp="1"/>
          </p:cNvSpPr>
          <p:nvPr/>
        </p:nvSpPr>
        <p:spPr>
          <a:xfrm>
            <a:off x="3019425" y="5012267"/>
            <a:ext cx="1657350" cy="369332"/>
          </a:xfrm>
          <a:prstGeom prst="rect">
            <a:avLst/>
          </a:prstGeom>
          <a:noFill/>
        </p:spPr>
        <p:txBody>
          <a:bodyPr wrap="square">
            <a:spAutoFit/>
          </a:bodyPr>
          <a:lstStyle/>
          <a:p>
            <a:r>
              <a:t>Ruoxuan Huang</a:t>
            </a:r>
          </a:p>
        </p:txBody>
      </p:sp>
      <p:sp>
        <p:nvSpPr>
          <p:cNvPr id="40" name="文本框 39">
            <a:extLst>
              <a:ext uri="{FF2B5EF4-FFF2-40B4-BE49-F238E27FC236}">
                <a16:creationId xmlns:a16="http://schemas.microsoft.com/office/drawing/2014/main" id="{2573456E-6C4B-A5EF-F3B6-961C169B07A0}"/>
              </a:ext>
            </a:extLst>
          </p:cNvPr>
          <p:cNvSpPr>
            <a:spLocks noGrp="1"/>
          </p:cNvSpPr>
          <p:nvPr/>
        </p:nvSpPr>
        <p:spPr>
          <a:xfrm>
            <a:off x="5172075" y="5012267"/>
            <a:ext cx="1657350" cy="369332"/>
          </a:xfrm>
          <a:prstGeom prst="rect">
            <a:avLst/>
          </a:prstGeom>
          <a:noFill/>
        </p:spPr>
        <p:txBody>
          <a:bodyPr wrap="square">
            <a:spAutoFit/>
          </a:bodyPr>
          <a:lstStyle/>
          <a:p>
            <a:r>
              <a:t>Xiangsong Tian</a:t>
            </a:r>
          </a:p>
        </p:txBody>
      </p:sp>
      <p:sp>
        <p:nvSpPr>
          <p:cNvPr id="41" name="文本框 40">
            <a:extLst>
              <a:ext uri="{FF2B5EF4-FFF2-40B4-BE49-F238E27FC236}">
                <a16:creationId xmlns:a16="http://schemas.microsoft.com/office/drawing/2014/main" id="{30BF397C-6BCA-0387-28E6-FD438E0D26EA}"/>
              </a:ext>
            </a:extLst>
          </p:cNvPr>
          <p:cNvSpPr>
            <a:spLocks noGrp="1"/>
          </p:cNvSpPr>
          <p:nvPr/>
        </p:nvSpPr>
        <p:spPr>
          <a:xfrm>
            <a:off x="7600950" y="4958835"/>
            <a:ext cx="1228725" cy="369332"/>
          </a:xfrm>
          <a:prstGeom prst="rect">
            <a:avLst/>
          </a:prstGeom>
          <a:noFill/>
        </p:spPr>
        <p:txBody>
          <a:bodyPr wrap="square">
            <a:spAutoFit/>
          </a:bodyPr>
          <a:lstStyle/>
          <a:p>
            <a:r>
              <a:t>Roub Li</a:t>
            </a:r>
          </a:p>
        </p:txBody>
      </p:sp>
      <p:sp>
        <p:nvSpPr>
          <p:cNvPr id="42" name="文本框 41">
            <a:extLst>
              <a:ext uri="{FF2B5EF4-FFF2-40B4-BE49-F238E27FC236}">
                <a16:creationId xmlns:a16="http://schemas.microsoft.com/office/drawing/2014/main" id="{A46FBEE5-0BB2-C628-78FE-616C5DB9398A}"/>
              </a:ext>
            </a:extLst>
          </p:cNvPr>
          <p:cNvSpPr>
            <a:spLocks noGrp="1"/>
          </p:cNvSpPr>
          <p:nvPr/>
        </p:nvSpPr>
        <p:spPr>
          <a:xfrm>
            <a:off x="9763125" y="5012267"/>
            <a:ext cx="1238250" cy="369332"/>
          </a:xfrm>
          <a:prstGeom prst="rect">
            <a:avLst/>
          </a:prstGeom>
          <a:noFill/>
        </p:spPr>
        <p:txBody>
          <a:bodyPr wrap="square">
            <a:spAutoFit/>
          </a:bodyPr>
          <a:lstStyle/>
          <a:p>
            <a:r>
              <a:t>Ziqi Zhong</a:t>
            </a:r>
          </a:p>
        </p:txBody>
      </p:sp>
      <p:sp>
        <p:nvSpPr>
          <p:cNvPr id="48" name="presenter-placeholder">
            <a:extLst>
              <a:ext uri="{FF2B5EF4-FFF2-40B4-BE49-F238E27FC236}">
                <a16:creationId xmlns:a16="http://schemas.microsoft.com/office/drawing/2014/main" id="{CA2066F9-FC96-4E77-BB00-3D73C18292F0}"/>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[All Team Member]</a:t>
            </a:r>
          </a:p>
        </p:txBody>
      </p:sp>
    </p:spTree>
    <p:extLst>
      <p:ext uri="{BB962C8B-B14F-4D97-AF65-F5344CB8AC3E}">
        <p14:creationId xmlns:p14="http://schemas.microsoft.com/office/powerpoint/2010/main" val="604925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21" name="text">
            <a:extLst>
              <a:ext uri="{FF2B5EF4-FFF2-40B4-BE49-F238E27FC236}">
                <a16:creationId xmlns:a16="http://schemas.microsoft.com/office/drawing/2014/main" id="{BE6ABAE5-BF6A-475E-9669-2B2F85B0A4A7}"/>
              </a:ext>
            </a:extLst>
          </p:cNvPr>
          <p:cNvSpPr>
            <a:spLocks noGrp="1"/>
          </p:cNvSpPr>
          <p:nvPr/>
        </p:nvSpPr>
        <p:spPr>
          <a:xfrm>
            <a:off x="685800" y="514350"/>
            <a:ext cx="3429000" cy="22860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LOOK AGAIN</a:t>
            </a:r>
          </a:p>
        </p:txBody>
      </p:sp>
      <p:sp>
        <p:nvSpPr>
          <p:cNvPr id="2" name="text">
            <a:extLst>
              <a:ext uri="{FF2B5EF4-FFF2-40B4-BE49-F238E27FC236}">
                <a16:creationId xmlns:a16="http://schemas.microsoft.com/office/drawing/2014/main" id="{F16A7A2E-B800-4DE3-916C-596598E63990}"/>
              </a:ext>
            </a:extLst>
          </p:cNvPr>
          <p:cNvSpPr>
            <a:spLocks noGrp="1"/>
          </p:cNvSpPr>
          <p:nvPr/>
        </p:nvSpPr>
        <p:spPr>
          <a:xfrm>
            <a:off x="685800" y="1238250"/>
            <a:ext cx="3667125" cy="1047750"/>
          </a:xfrm>
          <a:prstGeom prst="rect">
            <a:avLst/>
          </a:prstGeom>
          <a:noFill/>
          <a:ln w="0">
            <a:noFill/>
            <a:prstDash val="solid"/>
          </a:ln>
        </p:spPr>
        <p:txBody>
          <a:bodyPr/>
          <a:lstStyle/>
          <a:p>
            <a:pPr algn="l">
              <a:buNone/>
              <a:defRPr sz="2925" b="1">
                <a:solidFill>
                  <a:srgbClr val="003223"/>
                </a:solidFill>
              </a:defRPr>
            </a:pPr>
            <a:r>
              <a:rPr sz="2925" b="1">
                <a:solidFill>
                  <a:srgbClr val="003223"/>
                </a:solidFill>
              </a:rPr>
              <a:t>This is not just a bin.</a:t>
            </a:r>
          </a:p>
        </p:txBody>
      </p:sp>
      <p:sp>
        <p:nvSpPr>
          <p:cNvPr id="3" name="text">
            <a:extLst>
              <a:ext uri="{FF2B5EF4-FFF2-40B4-BE49-F238E27FC236}">
                <a16:creationId xmlns:a16="http://schemas.microsoft.com/office/drawing/2014/main" id="{E145959E-4369-4B85-AF48-4D70E29B03A6}"/>
              </a:ext>
            </a:extLst>
          </p:cNvPr>
          <p:cNvSpPr>
            <a:spLocks noGrp="1"/>
          </p:cNvSpPr>
          <p:nvPr/>
        </p:nvSpPr>
        <p:spPr>
          <a:xfrm>
            <a:off x="685800" y="2381250"/>
            <a:ext cx="3667125" cy="1047750"/>
          </a:xfrm>
          <a:prstGeom prst="rect">
            <a:avLst/>
          </a:prstGeom>
          <a:noFill/>
          <a:ln w="0">
            <a:noFill/>
            <a:prstDash val="solid"/>
          </a:ln>
        </p:spPr>
        <p:txBody>
          <a:bodyPr/>
          <a:lstStyle/>
          <a:p>
            <a:pPr algn="l">
              <a:buNone/>
              <a:defRPr sz="2925" b="1">
                <a:solidFill>
                  <a:srgbClr val="FF5032"/>
                </a:solidFill>
              </a:defRPr>
            </a:pPr>
            <a:r>
              <a:rPr sz="2925" b="1">
                <a:solidFill>
                  <a:srgbClr val="FF5032"/>
                </a:solidFill>
              </a:rPr>
              <a:t>It is also a receipt.</a:t>
            </a:r>
          </a:p>
        </p:txBody>
      </p:sp>
      <p:sp>
        <p:nvSpPr>
          <p:cNvPr id="4" name="receipt">
            <a:extLst>
              <a:ext uri="{FF2B5EF4-FFF2-40B4-BE49-F238E27FC236}">
                <a16:creationId xmlns:a16="http://schemas.microsoft.com/office/drawing/2014/main" id="{61C9A778-3F03-4AC2-8924-0A1F83B11A97}"/>
              </a:ext>
            </a:extLst>
          </p:cNvPr>
          <p:cNvSpPr>
            <a:spLocks noGrp="1"/>
          </p:cNvSpPr>
          <p:nvPr/>
        </p:nvSpPr>
        <p:spPr>
          <a:xfrm>
            <a:off x="7810500" y="971550"/>
            <a:ext cx="3695700" cy="4381500"/>
          </a:xfrm>
          <a:prstGeom prst="roundRect">
            <a:avLst>
              <a:gd name="adj" fmla="val 9278"/>
            </a:avLst>
          </a:prstGeom>
          <a:solidFill>
            <a:srgbClr val="FFFFFF"/>
          </a:solidFill>
          <a:ln w="9525">
            <a:solidFill>
              <a:srgbClr val="C8D7D1"/>
            </a:solidFill>
            <a:prstDash val="solid"/>
          </a:ln>
        </p:spPr>
        <p:style>
          <a:lnRef idx="0">
            <a:scrgbClr r="0" g="0" b="0"/>
          </a:lnRef>
          <a:fillRef idx="0">
            <a:scrgbClr r="0" g="0" b="0"/>
          </a:fillRef>
          <a:effectRef idx="7">
            <a:scrgbClr r="0" g="0" b="0"/>
          </a:effectRef>
          <a:fontRef idx="major"/>
        </p:style>
        <p:txBody>
          <a:bodyPr/>
          <a:lstStyle/>
          <a:p>
            <a:endParaRPr/>
          </a:p>
        </p:txBody>
      </p:sp>
      <p:sp>
        <p:nvSpPr>
          <p:cNvPr id="5" name="text">
            <a:extLst>
              <a:ext uri="{FF2B5EF4-FFF2-40B4-BE49-F238E27FC236}">
                <a16:creationId xmlns:a16="http://schemas.microsoft.com/office/drawing/2014/main" id="{E95BFB73-E06A-46A2-9B3C-309830C7BA43}"/>
              </a:ext>
            </a:extLst>
          </p:cNvPr>
          <p:cNvSpPr>
            <a:spLocks noGrp="1"/>
          </p:cNvSpPr>
          <p:nvPr/>
        </p:nvSpPr>
        <p:spPr>
          <a:xfrm>
            <a:off x="8172450" y="1371600"/>
            <a:ext cx="2857500" cy="228600"/>
          </a:xfrm>
          <a:prstGeom prst="rect">
            <a:avLst/>
          </a:prstGeom>
          <a:noFill/>
          <a:ln w="0">
            <a:noFill/>
            <a:prstDash val="solid"/>
          </a:ln>
        </p:spPr>
        <p:txBody>
          <a:bodyPr/>
          <a:lstStyle/>
          <a:p>
            <a:pPr algn="l">
              <a:buNone/>
              <a:defRPr sz="1050" b="1">
                <a:solidFill>
                  <a:srgbClr val="465F56"/>
                </a:solidFill>
              </a:defRPr>
            </a:pPr>
            <a:r>
              <a:rPr sz="1050" b="1">
                <a:solidFill>
                  <a:srgbClr val="465F56"/>
                </a:solidFill>
              </a:rPr>
              <a:t>INSIDE THE BIN</a:t>
            </a:r>
          </a:p>
        </p:txBody>
      </p:sp>
      <p:sp>
        <p:nvSpPr>
          <p:cNvPr id="6" name="椭圆 5">
            <a:extLst>
              <a:ext uri="{FF2B5EF4-FFF2-40B4-BE49-F238E27FC236}">
                <a16:creationId xmlns:a16="http://schemas.microsoft.com/office/drawing/2014/main" id="{C49B627E-42FD-4BCB-96E6-74828DC57F76}"/>
              </a:ext>
            </a:extLst>
          </p:cNvPr>
          <p:cNvSpPr>
            <a:spLocks noGrp="1"/>
          </p:cNvSpPr>
          <p:nvPr/>
        </p:nvSpPr>
        <p:spPr>
          <a:xfrm>
            <a:off x="8172450" y="1962150"/>
            <a:ext cx="209550" cy="209550"/>
          </a:xfrm>
          <a:prstGeom prst="ellipse">
            <a:avLst/>
          </a:prstGeom>
          <a:solidFill>
            <a:srgbClr val="FF5032"/>
          </a:solidFill>
          <a:ln w="0">
            <a:noFill/>
            <a:prstDash val="solid"/>
          </a:ln>
        </p:spPr>
        <p:txBody>
          <a:bodyPr/>
          <a:lstStyle/>
          <a:p>
            <a:endParaRPr/>
          </a:p>
        </p:txBody>
      </p:sp>
      <p:sp>
        <p:nvSpPr>
          <p:cNvPr id="7" name="text">
            <a:extLst>
              <a:ext uri="{FF2B5EF4-FFF2-40B4-BE49-F238E27FC236}">
                <a16:creationId xmlns:a16="http://schemas.microsoft.com/office/drawing/2014/main" id="{3594C9EA-5A21-4666-A8D3-0B459FC9621F}"/>
              </a:ext>
            </a:extLst>
          </p:cNvPr>
          <p:cNvSpPr>
            <a:spLocks noGrp="1"/>
          </p:cNvSpPr>
          <p:nvPr/>
        </p:nvSpPr>
        <p:spPr>
          <a:xfrm>
            <a:off x="8572500" y="1895475"/>
            <a:ext cx="2381250" cy="30480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Money spent</a:t>
            </a:r>
          </a:p>
        </p:txBody>
      </p:sp>
      <p:sp>
        <p:nvSpPr>
          <p:cNvPr id="8" name="直线连接符 7">
            <a:extLst>
              <a:ext uri="{FF2B5EF4-FFF2-40B4-BE49-F238E27FC236}">
                <a16:creationId xmlns:a16="http://schemas.microsoft.com/office/drawing/2014/main" id="{A63AA7FB-1E9B-46F0-B147-A9724A027CB9}"/>
              </a:ext>
            </a:extLst>
          </p:cNvPr>
          <p:cNvSpPr>
            <a:spLocks noGrp="1"/>
          </p:cNvSpPr>
          <p:nvPr/>
        </p:nvSpPr>
        <p:spPr>
          <a:xfrm>
            <a:off x="8172450" y="2343150"/>
            <a:ext cx="2857500" cy="0"/>
          </a:xfrm>
          <a:prstGeom prst="line">
            <a:avLst/>
          </a:prstGeom>
          <a:noFill/>
          <a:ln w="9525">
            <a:solidFill>
              <a:srgbClr val="C8D7D1"/>
            </a:solidFill>
            <a:prstDash val="solid"/>
          </a:ln>
        </p:spPr>
        <p:txBody>
          <a:bodyPr/>
          <a:lstStyle/>
          <a:p>
            <a:endParaRPr/>
          </a:p>
        </p:txBody>
      </p:sp>
      <p:sp>
        <p:nvSpPr>
          <p:cNvPr id="9" name="椭圆 8">
            <a:extLst>
              <a:ext uri="{FF2B5EF4-FFF2-40B4-BE49-F238E27FC236}">
                <a16:creationId xmlns:a16="http://schemas.microsoft.com/office/drawing/2014/main" id="{05A19B2F-603A-4150-B95D-44BF44AD06FC}"/>
              </a:ext>
            </a:extLst>
          </p:cNvPr>
          <p:cNvSpPr>
            <a:spLocks noGrp="1"/>
          </p:cNvSpPr>
          <p:nvPr/>
        </p:nvSpPr>
        <p:spPr>
          <a:xfrm>
            <a:off x="8172450" y="2667000"/>
            <a:ext cx="209550" cy="209550"/>
          </a:xfrm>
          <a:prstGeom prst="ellipse">
            <a:avLst/>
          </a:prstGeom>
          <a:solidFill>
            <a:srgbClr val="005AE6"/>
          </a:solidFill>
          <a:ln w="0">
            <a:noFill/>
            <a:prstDash val="solid"/>
          </a:ln>
        </p:spPr>
        <p:txBody>
          <a:bodyPr/>
          <a:lstStyle/>
          <a:p>
            <a:endParaRPr/>
          </a:p>
        </p:txBody>
      </p:sp>
      <p:sp>
        <p:nvSpPr>
          <p:cNvPr id="10" name="text">
            <a:extLst>
              <a:ext uri="{FF2B5EF4-FFF2-40B4-BE49-F238E27FC236}">
                <a16:creationId xmlns:a16="http://schemas.microsoft.com/office/drawing/2014/main" id="{9C5D37FB-CE43-4C91-8A88-2D8941C83F06}"/>
              </a:ext>
            </a:extLst>
          </p:cNvPr>
          <p:cNvSpPr>
            <a:spLocks noGrp="1"/>
          </p:cNvSpPr>
          <p:nvPr/>
        </p:nvSpPr>
        <p:spPr>
          <a:xfrm>
            <a:off x="8572500" y="2600325"/>
            <a:ext cx="2381250" cy="30480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Water used</a:t>
            </a:r>
          </a:p>
        </p:txBody>
      </p:sp>
      <p:sp>
        <p:nvSpPr>
          <p:cNvPr id="11" name="直线连接符 10">
            <a:extLst>
              <a:ext uri="{FF2B5EF4-FFF2-40B4-BE49-F238E27FC236}">
                <a16:creationId xmlns:a16="http://schemas.microsoft.com/office/drawing/2014/main" id="{E036A655-D44F-4884-B79E-DABF870B426A}"/>
              </a:ext>
            </a:extLst>
          </p:cNvPr>
          <p:cNvSpPr>
            <a:spLocks noGrp="1"/>
          </p:cNvSpPr>
          <p:nvPr/>
        </p:nvSpPr>
        <p:spPr>
          <a:xfrm>
            <a:off x="8172450" y="3048000"/>
            <a:ext cx="2857500" cy="0"/>
          </a:xfrm>
          <a:prstGeom prst="line">
            <a:avLst/>
          </a:prstGeom>
          <a:noFill/>
          <a:ln w="9525">
            <a:solidFill>
              <a:srgbClr val="C8D7D1"/>
            </a:solidFill>
            <a:prstDash val="solid"/>
          </a:ln>
        </p:spPr>
        <p:txBody>
          <a:bodyPr/>
          <a:lstStyle/>
          <a:p>
            <a:endParaRPr/>
          </a:p>
        </p:txBody>
      </p:sp>
      <p:sp>
        <p:nvSpPr>
          <p:cNvPr id="12" name="椭圆 11">
            <a:extLst>
              <a:ext uri="{FF2B5EF4-FFF2-40B4-BE49-F238E27FC236}">
                <a16:creationId xmlns:a16="http://schemas.microsoft.com/office/drawing/2014/main" id="{3F7C7BCB-8B86-4261-B823-302F3571261A}"/>
              </a:ext>
            </a:extLst>
          </p:cNvPr>
          <p:cNvSpPr>
            <a:spLocks noGrp="1"/>
          </p:cNvSpPr>
          <p:nvPr/>
        </p:nvSpPr>
        <p:spPr>
          <a:xfrm>
            <a:off x="8172450" y="3371850"/>
            <a:ext cx="209550" cy="209550"/>
          </a:xfrm>
          <a:prstGeom prst="ellipse">
            <a:avLst/>
          </a:prstGeom>
          <a:solidFill>
            <a:srgbClr val="28C882"/>
          </a:solidFill>
          <a:ln w="0">
            <a:noFill/>
            <a:prstDash val="solid"/>
          </a:ln>
        </p:spPr>
        <p:txBody>
          <a:bodyPr/>
          <a:lstStyle/>
          <a:p>
            <a:endParaRPr/>
          </a:p>
        </p:txBody>
      </p:sp>
      <p:sp>
        <p:nvSpPr>
          <p:cNvPr id="13" name="text">
            <a:extLst>
              <a:ext uri="{FF2B5EF4-FFF2-40B4-BE49-F238E27FC236}">
                <a16:creationId xmlns:a16="http://schemas.microsoft.com/office/drawing/2014/main" id="{61C3353B-62B3-419A-8057-3F0D77AFDFB8}"/>
              </a:ext>
            </a:extLst>
          </p:cNvPr>
          <p:cNvSpPr>
            <a:spLocks noGrp="1"/>
          </p:cNvSpPr>
          <p:nvPr/>
        </p:nvSpPr>
        <p:spPr>
          <a:xfrm>
            <a:off x="8572500" y="3305175"/>
            <a:ext cx="2381250" cy="30480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Carbon released</a:t>
            </a:r>
          </a:p>
        </p:txBody>
      </p:sp>
      <p:sp>
        <p:nvSpPr>
          <p:cNvPr id="14" name="直线连接符 13">
            <a:extLst>
              <a:ext uri="{FF2B5EF4-FFF2-40B4-BE49-F238E27FC236}">
                <a16:creationId xmlns:a16="http://schemas.microsoft.com/office/drawing/2014/main" id="{77EEB836-3745-4C10-97CA-612C179AD6BB}"/>
              </a:ext>
            </a:extLst>
          </p:cNvPr>
          <p:cNvSpPr>
            <a:spLocks noGrp="1"/>
          </p:cNvSpPr>
          <p:nvPr/>
        </p:nvSpPr>
        <p:spPr>
          <a:xfrm>
            <a:off x="8172450" y="3752850"/>
            <a:ext cx="2857500" cy="0"/>
          </a:xfrm>
          <a:prstGeom prst="line">
            <a:avLst/>
          </a:prstGeom>
          <a:noFill/>
          <a:ln w="9525">
            <a:solidFill>
              <a:srgbClr val="C8D7D1"/>
            </a:solidFill>
            <a:prstDash val="solid"/>
          </a:ln>
        </p:spPr>
        <p:txBody>
          <a:bodyPr/>
          <a:lstStyle/>
          <a:p>
            <a:endParaRPr/>
          </a:p>
        </p:txBody>
      </p:sp>
      <p:sp>
        <p:nvSpPr>
          <p:cNvPr id="15" name="椭圆 14">
            <a:extLst>
              <a:ext uri="{FF2B5EF4-FFF2-40B4-BE49-F238E27FC236}">
                <a16:creationId xmlns:a16="http://schemas.microsoft.com/office/drawing/2014/main" id="{221D74D8-89C6-479B-9BA9-CFDD0CFA4302}"/>
              </a:ext>
            </a:extLst>
          </p:cNvPr>
          <p:cNvSpPr>
            <a:spLocks noGrp="1"/>
          </p:cNvSpPr>
          <p:nvPr/>
        </p:nvSpPr>
        <p:spPr>
          <a:xfrm>
            <a:off x="8172450" y="4076700"/>
            <a:ext cx="209550" cy="209550"/>
          </a:xfrm>
          <a:prstGeom prst="ellipse">
            <a:avLst/>
          </a:prstGeom>
          <a:solidFill>
            <a:srgbClr val="87005A"/>
          </a:solidFill>
          <a:ln w="0">
            <a:noFill/>
            <a:prstDash val="solid"/>
          </a:ln>
        </p:spPr>
        <p:txBody>
          <a:bodyPr/>
          <a:lstStyle/>
          <a:p>
            <a:endParaRPr/>
          </a:p>
        </p:txBody>
      </p:sp>
      <p:sp>
        <p:nvSpPr>
          <p:cNvPr id="16" name="text">
            <a:extLst>
              <a:ext uri="{FF2B5EF4-FFF2-40B4-BE49-F238E27FC236}">
                <a16:creationId xmlns:a16="http://schemas.microsoft.com/office/drawing/2014/main" id="{98A27A96-FCD9-4548-B0C3-990A809C8180}"/>
              </a:ext>
            </a:extLst>
          </p:cNvPr>
          <p:cNvSpPr>
            <a:spLocks noGrp="1"/>
          </p:cNvSpPr>
          <p:nvPr/>
        </p:nvSpPr>
        <p:spPr>
          <a:xfrm>
            <a:off x="8572500" y="4010025"/>
            <a:ext cx="2381250" cy="30480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Meals never eaten</a:t>
            </a:r>
          </a:p>
        </p:txBody>
      </p:sp>
      <p:sp>
        <p:nvSpPr>
          <p:cNvPr id="17" name="直线连接符 16">
            <a:extLst>
              <a:ext uri="{FF2B5EF4-FFF2-40B4-BE49-F238E27FC236}">
                <a16:creationId xmlns:a16="http://schemas.microsoft.com/office/drawing/2014/main" id="{BF721BC1-ACB9-4478-BA27-13241D62A18E}"/>
              </a:ext>
            </a:extLst>
          </p:cNvPr>
          <p:cNvSpPr>
            <a:spLocks noGrp="1"/>
          </p:cNvSpPr>
          <p:nvPr/>
        </p:nvSpPr>
        <p:spPr>
          <a:xfrm>
            <a:off x="8172450" y="4457700"/>
            <a:ext cx="2857500" cy="0"/>
          </a:xfrm>
          <a:prstGeom prst="line">
            <a:avLst/>
          </a:prstGeom>
          <a:noFill/>
          <a:ln w="9525">
            <a:solidFill>
              <a:srgbClr val="C8D7D1"/>
            </a:solidFill>
            <a:prstDash val="solid"/>
          </a:ln>
        </p:spPr>
        <p:txBody>
          <a:bodyPr/>
          <a:lstStyle/>
          <a:p>
            <a:endParaRPr/>
          </a:p>
        </p:txBody>
      </p:sp>
      <p:sp>
        <p:nvSpPr>
          <p:cNvPr id="18" name="text">
            <a:extLst>
              <a:ext uri="{FF2B5EF4-FFF2-40B4-BE49-F238E27FC236}">
                <a16:creationId xmlns:a16="http://schemas.microsoft.com/office/drawing/2014/main" id="{8FB7E330-D0D8-426D-B97D-C7A46DD50718}"/>
              </a:ext>
            </a:extLst>
          </p:cNvPr>
          <p:cNvSpPr>
            <a:spLocks noGrp="1"/>
          </p:cNvSpPr>
          <p:nvPr/>
        </p:nvSpPr>
        <p:spPr>
          <a:xfrm>
            <a:off x="685800" y="4400550"/>
            <a:ext cx="3714750" cy="30480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Most businesses see only one thing:</a:t>
            </a:r>
          </a:p>
        </p:txBody>
      </p:sp>
      <p:sp>
        <p:nvSpPr>
          <p:cNvPr id="19" name="text">
            <a:extLst>
              <a:ext uri="{FF2B5EF4-FFF2-40B4-BE49-F238E27FC236}">
                <a16:creationId xmlns:a16="http://schemas.microsoft.com/office/drawing/2014/main" id="{CAB3462D-11CC-474B-A296-90EFD15058B8}"/>
              </a:ext>
            </a:extLst>
          </p:cNvPr>
          <p:cNvSpPr>
            <a:spLocks noGrp="1"/>
          </p:cNvSpPr>
          <p:nvPr/>
        </p:nvSpPr>
        <p:spPr>
          <a:xfrm>
            <a:off x="685800" y="4762500"/>
            <a:ext cx="3714750" cy="533400"/>
          </a:xfrm>
          <a:prstGeom prst="rect">
            <a:avLst/>
          </a:prstGeom>
          <a:noFill/>
          <a:ln w="0">
            <a:noFill/>
            <a:prstDash val="solid"/>
          </a:ln>
        </p:spPr>
        <p:txBody>
          <a:bodyPr/>
          <a:lstStyle/>
          <a:p>
            <a:pPr algn="l">
              <a:buNone/>
              <a:defRPr sz="2325" b="1">
                <a:solidFill>
                  <a:srgbClr val="003223"/>
                </a:solidFill>
              </a:defRPr>
            </a:pPr>
            <a:r>
              <a:rPr sz="2325" b="1">
                <a:solidFill>
                  <a:srgbClr val="003223"/>
                </a:solidFill>
              </a:rPr>
              <a:t>kilograms of waste.</a:t>
            </a:r>
          </a:p>
        </p:txBody>
      </p:sp>
      <p:sp>
        <p:nvSpPr>
          <p:cNvPr id="20" name="text">
            <a:extLst>
              <a:ext uri="{FF2B5EF4-FFF2-40B4-BE49-F238E27FC236}">
                <a16:creationId xmlns:a16="http://schemas.microsoft.com/office/drawing/2014/main" id="{6B5DA7C3-AE7C-491E-B896-03F11C6EE768}"/>
              </a:ext>
            </a:extLst>
          </p:cNvPr>
          <p:cNvSpPr>
            <a:spLocks noGrp="1"/>
          </p:cNvSpPr>
          <p:nvPr/>
        </p:nvSpPr>
        <p:spPr>
          <a:xfrm>
            <a:off x="685800" y="6115050"/>
            <a:ext cx="4381500" cy="209550"/>
          </a:xfrm>
          <a:prstGeom prst="rect">
            <a:avLst/>
          </a:prstGeom>
          <a:noFill/>
          <a:ln w="0">
            <a:noFill/>
            <a:prstDash val="solid"/>
          </a:ln>
        </p:spPr>
        <p:txBody>
          <a:bodyPr/>
          <a:lstStyle/>
          <a:p>
            <a:pPr algn="l">
              <a:buNone/>
              <a:defRPr sz="1050" b="1">
                <a:solidFill>
                  <a:srgbClr val="465F56"/>
                </a:solidFill>
              </a:defRPr>
            </a:pPr>
            <a:r>
              <a:rPr sz="1050" b="1">
                <a:solidFill>
                  <a:srgbClr val="465F56"/>
                </a:solidFill>
              </a:rPr>
              <a:t>TEAM 16 · 502 BAD GATEWAY</a:t>
            </a:r>
          </a:p>
        </p:txBody>
      </p:sp>
      <p:pic>
        <p:nvPicPr>
          <p:cNvPr id="44" name="图片 44"/>
          <p:cNvPicPr>
            <a:picLocks noChangeAspect="1"/>
          </p:cNvPicPr>
          <p:nvPr/>
        </p:nvPicPr>
        <p:blipFill>
          <a:blip r:embed="rId3"/>
          <a:srcRect t="1198" b="1198"/>
          <a:stretch>
            <a:fillRect/>
          </a:stretch>
        </p:blipFill>
        <p:spPr>
          <a:xfrm>
            <a:off x="4591050" y="1104900"/>
            <a:ext cx="2914650" cy="4267200"/>
          </a:xfrm>
          <a:prstGeom prst="rect">
            <a:avLst/>
          </a:prstGeom>
        </p:spPr>
      </p:pic>
      <p:sp>
        <p:nvSpPr>
          <p:cNvPr id="22" name="presenter-placeholder">
            <a:extLst>
              <a:ext uri="{FF2B5EF4-FFF2-40B4-BE49-F238E27FC236}">
                <a16:creationId xmlns:a16="http://schemas.microsoft.com/office/drawing/2014/main" id="{79EB0B7C-CA07-E852-C947-2EA7686ABC3E}"/>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[Austin Sha]</a:t>
            </a:r>
          </a:p>
        </p:txBody>
      </p:sp>
    </p:spTree>
    <p:extLst>
      <p:ext uri="{BB962C8B-B14F-4D97-AF65-F5344CB8AC3E}">
        <p14:creationId xmlns:p14="http://schemas.microsoft.com/office/powerpoint/2010/main" val="722090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22" name="eyebrow-4">
            <a:extLst>
              <a:ext uri="{FF2B5EF4-FFF2-40B4-BE49-F238E27FC236}">
                <a16:creationId xmlns:a16="http://schemas.microsoft.com/office/drawing/2014/main" id="{65339BD1-0A84-4F0C-9D0B-4C9F7C025880}"/>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4">
            <a:extLst>
              <a:ext uri="{FF2B5EF4-FFF2-40B4-BE49-F238E27FC236}">
                <a16:creationId xmlns:a16="http://schemas.microsoft.com/office/drawing/2014/main" id="{BF4FF49D-6A23-42DD-A3C4-DBB79B63F7F0}"/>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04</a:t>
            </a:r>
          </a:p>
        </p:txBody>
      </p:sp>
      <p:sp>
        <p:nvSpPr>
          <p:cNvPr id="3" name="title-4">
            <a:extLst>
              <a:ext uri="{FF2B5EF4-FFF2-40B4-BE49-F238E27FC236}">
                <a16:creationId xmlns:a16="http://schemas.microsoft.com/office/drawing/2014/main" id="{08A99A93-9E94-4B46-838C-277A9121BDB9}"/>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Without the right tool, 100 kilograms is just a number</a:t>
            </a:r>
          </a:p>
        </p:txBody>
      </p:sp>
      <p:sp>
        <p:nvSpPr>
          <p:cNvPr id="4" name="subtitle-4">
            <a:extLst>
              <a:ext uri="{FF2B5EF4-FFF2-40B4-BE49-F238E27FC236}">
                <a16:creationId xmlns:a16="http://schemas.microsoft.com/office/drawing/2014/main" id="{1FC8D1B3-4CC4-46A1-A4F3-F95CD4E58D1A}"/>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The weight is visible. The consequences — and the next action — are not.</a:t>
            </a:r>
          </a:p>
        </p:txBody>
      </p:sp>
      <p:sp>
        <p:nvSpPr>
          <p:cNvPr id="5" name="hundred">
            <a:extLst>
              <a:ext uri="{FF2B5EF4-FFF2-40B4-BE49-F238E27FC236}">
                <a16:creationId xmlns:a16="http://schemas.microsoft.com/office/drawing/2014/main" id="{FF60CF25-2680-4129-AC7D-ACFA655C7E16}"/>
              </a:ext>
            </a:extLst>
          </p:cNvPr>
          <p:cNvSpPr>
            <a:spLocks noGrp="1"/>
          </p:cNvSpPr>
          <p:nvPr/>
        </p:nvSpPr>
        <p:spPr>
          <a:xfrm>
            <a:off x="685800" y="2343150"/>
            <a:ext cx="3143250" cy="1314450"/>
          </a:xfrm>
          <a:prstGeom prst="rect">
            <a:avLst/>
          </a:prstGeom>
          <a:noFill/>
          <a:ln w="0">
            <a:noFill/>
            <a:prstDash val="solid"/>
          </a:ln>
        </p:spPr>
        <p:txBody>
          <a:bodyPr/>
          <a:lstStyle/>
          <a:p>
            <a:pPr algn="ctr">
              <a:buNone/>
              <a:defRPr sz="6900" b="1">
                <a:solidFill>
                  <a:srgbClr val="003223"/>
                </a:solidFill>
              </a:defRPr>
            </a:pPr>
            <a:r>
              <a:rPr sz="6900" b="1">
                <a:solidFill>
                  <a:srgbClr val="003223"/>
                </a:solidFill>
              </a:rPr>
              <a:t>100</a:t>
            </a:r>
          </a:p>
        </p:txBody>
      </p:sp>
      <p:sp>
        <p:nvSpPr>
          <p:cNvPr id="6" name="text">
            <a:extLst>
              <a:ext uri="{FF2B5EF4-FFF2-40B4-BE49-F238E27FC236}">
                <a16:creationId xmlns:a16="http://schemas.microsoft.com/office/drawing/2014/main" id="{44123832-98D0-4477-BC08-67FD1F852B60}"/>
              </a:ext>
            </a:extLst>
          </p:cNvPr>
          <p:cNvSpPr>
            <a:spLocks noGrp="1"/>
          </p:cNvSpPr>
          <p:nvPr/>
        </p:nvSpPr>
        <p:spPr>
          <a:xfrm>
            <a:off x="2857500" y="2895600"/>
            <a:ext cx="952500" cy="457200"/>
          </a:xfrm>
          <a:prstGeom prst="rect">
            <a:avLst/>
          </a:prstGeom>
          <a:noFill/>
          <a:ln w="0">
            <a:noFill/>
            <a:prstDash val="solid"/>
          </a:ln>
        </p:spPr>
        <p:txBody>
          <a:bodyPr/>
          <a:lstStyle/>
          <a:p>
            <a:pPr algn="l">
              <a:buNone/>
              <a:defRPr sz="2400" b="1">
                <a:solidFill>
                  <a:srgbClr val="465F56"/>
                </a:solidFill>
              </a:defRPr>
            </a:pPr>
            <a:r>
              <a:rPr sz="2400" b="1">
                <a:solidFill>
                  <a:srgbClr val="465F56"/>
                </a:solidFill>
              </a:rPr>
              <a:t>kg</a:t>
            </a:r>
          </a:p>
        </p:txBody>
      </p:sp>
      <p:sp>
        <p:nvSpPr>
          <p:cNvPr id="7" name="number-only">
            <a:extLst>
              <a:ext uri="{FF2B5EF4-FFF2-40B4-BE49-F238E27FC236}">
                <a16:creationId xmlns:a16="http://schemas.microsoft.com/office/drawing/2014/main" id="{E59CA190-41D8-468E-9579-7AFDC2BD7837}"/>
              </a:ext>
            </a:extLst>
          </p:cNvPr>
          <p:cNvSpPr>
            <a:spLocks noGrp="1"/>
          </p:cNvSpPr>
          <p:nvPr/>
        </p:nvSpPr>
        <p:spPr>
          <a:xfrm>
            <a:off x="685800" y="4133850"/>
            <a:ext cx="3333750" cy="781050"/>
          </a:xfrm>
          <a:prstGeom prst="roundRect">
            <a:avLst>
              <a:gd name="adj" fmla="val 29268"/>
            </a:avLst>
          </a:prstGeom>
          <a:solidFill>
            <a:srgbClr val="003223"/>
          </a:solidFill>
          <a:ln w="0">
            <a:noFill/>
            <a:prstDash val="solid"/>
          </a:ln>
        </p:spPr>
        <p:txBody>
          <a:bodyPr/>
          <a:lstStyle/>
          <a:p>
            <a:endParaRPr/>
          </a:p>
        </p:txBody>
      </p:sp>
      <p:sp>
        <p:nvSpPr>
          <p:cNvPr id="8" name="text">
            <a:extLst>
              <a:ext uri="{FF2B5EF4-FFF2-40B4-BE49-F238E27FC236}">
                <a16:creationId xmlns:a16="http://schemas.microsoft.com/office/drawing/2014/main" id="{3F762C58-F0E7-49E6-964D-A031B66BB77A}"/>
              </a:ext>
            </a:extLst>
          </p:cNvPr>
          <p:cNvSpPr>
            <a:spLocks noGrp="1"/>
          </p:cNvSpPr>
          <p:nvPr/>
        </p:nvSpPr>
        <p:spPr>
          <a:xfrm>
            <a:off x="952500" y="4352925"/>
            <a:ext cx="2800350" cy="323850"/>
          </a:xfrm>
          <a:prstGeom prst="rect">
            <a:avLst/>
          </a:prstGeom>
          <a:noFill/>
          <a:ln w="0">
            <a:noFill/>
            <a:prstDash val="solid"/>
          </a:ln>
        </p:spPr>
        <p:txBody>
          <a:bodyPr/>
          <a:lstStyle/>
          <a:p>
            <a:pPr algn="ctr">
              <a:buNone/>
              <a:defRPr sz="1800" b="1">
                <a:solidFill>
                  <a:srgbClr val="FFFFFF"/>
                </a:solidFill>
              </a:defRPr>
            </a:pPr>
            <a:r>
              <a:rPr sz="1800" b="1">
                <a:solidFill>
                  <a:srgbClr val="FFFFFF"/>
                </a:solidFill>
              </a:rPr>
              <a:t>Measured</a:t>
            </a:r>
          </a:p>
        </p:txBody>
      </p:sp>
      <p:sp>
        <p:nvSpPr>
          <p:cNvPr id="9" name="椭圆 8">
            <a:extLst>
              <a:ext uri="{FF2B5EF4-FFF2-40B4-BE49-F238E27FC236}">
                <a16:creationId xmlns:a16="http://schemas.microsoft.com/office/drawing/2014/main" id="{81ABCFB9-1206-4302-B7A0-E5C2F21C1470}"/>
              </a:ext>
            </a:extLst>
          </p:cNvPr>
          <p:cNvSpPr>
            <a:spLocks noGrp="1"/>
          </p:cNvSpPr>
          <p:nvPr/>
        </p:nvSpPr>
        <p:spPr>
          <a:xfrm>
            <a:off x="4762500" y="2476500"/>
            <a:ext cx="209550" cy="209550"/>
          </a:xfrm>
          <a:prstGeom prst="ellipse">
            <a:avLst/>
          </a:prstGeom>
          <a:solidFill>
            <a:srgbClr val="FF5032"/>
          </a:solidFill>
          <a:ln w="0">
            <a:noFill/>
            <a:prstDash val="solid"/>
          </a:ln>
        </p:spPr>
        <p:txBody>
          <a:bodyPr/>
          <a:lstStyle/>
          <a:p>
            <a:endParaRPr/>
          </a:p>
        </p:txBody>
      </p:sp>
      <p:sp>
        <p:nvSpPr>
          <p:cNvPr id="10" name="text">
            <a:extLst>
              <a:ext uri="{FF2B5EF4-FFF2-40B4-BE49-F238E27FC236}">
                <a16:creationId xmlns:a16="http://schemas.microsoft.com/office/drawing/2014/main" id="{D8A33519-525E-437B-A1FA-96F8B7404FB9}"/>
              </a:ext>
            </a:extLst>
          </p:cNvPr>
          <p:cNvSpPr>
            <a:spLocks noGrp="1"/>
          </p:cNvSpPr>
          <p:nvPr/>
        </p:nvSpPr>
        <p:spPr>
          <a:xfrm>
            <a:off x="5162550" y="2400300"/>
            <a:ext cx="2571750" cy="32385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How much money?</a:t>
            </a:r>
          </a:p>
        </p:txBody>
      </p:sp>
      <p:sp>
        <p:nvSpPr>
          <p:cNvPr id="11" name="text">
            <a:extLst>
              <a:ext uri="{FF2B5EF4-FFF2-40B4-BE49-F238E27FC236}">
                <a16:creationId xmlns:a16="http://schemas.microsoft.com/office/drawing/2014/main" id="{553EC3FD-5DCF-4C36-9B44-439186431E85}"/>
              </a:ext>
            </a:extLst>
          </p:cNvPr>
          <p:cNvSpPr>
            <a:spLocks noGrp="1"/>
          </p:cNvSpPr>
          <p:nvPr/>
        </p:nvSpPr>
        <p:spPr>
          <a:xfrm>
            <a:off x="5162550" y="2809875"/>
            <a:ext cx="2571750" cy="2667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Impact unknown</a:t>
            </a:r>
          </a:p>
        </p:txBody>
      </p:sp>
      <p:sp>
        <p:nvSpPr>
          <p:cNvPr id="12" name="椭圆 11">
            <a:extLst>
              <a:ext uri="{FF2B5EF4-FFF2-40B4-BE49-F238E27FC236}">
                <a16:creationId xmlns:a16="http://schemas.microsoft.com/office/drawing/2014/main" id="{B4C5D510-33C4-4DB3-89EE-FA1F6015218E}"/>
              </a:ext>
            </a:extLst>
          </p:cNvPr>
          <p:cNvSpPr>
            <a:spLocks noGrp="1"/>
          </p:cNvSpPr>
          <p:nvPr/>
        </p:nvSpPr>
        <p:spPr>
          <a:xfrm>
            <a:off x="8096250" y="2476500"/>
            <a:ext cx="209550" cy="209550"/>
          </a:xfrm>
          <a:prstGeom prst="ellipse">
            <a:avLst/>
          </a:prstGeom>
          <a:solidFill>
            <a:srgbClr val="005AE6"/>
          </a:solidFill>
          <a:ln w="0">
            <a:noFill/>
            <a:prstDash val="solid"/>
          </a:ln>
        </p:spPr>
        <p:txBody>
          <a:bodyPr/>
          <a:lstStyle/>
          <a:p>
            <a:endParaRPr/>
          </a:p>
        </p:txBody>
      </p:sp>
      <p:sp>
        <p:nvSpPr>
          <p:cNvPr id="13" name="text">
            <a:extLst>
              <a:ext uri="{FF2B5EF4-FFF2-40B4-BE49-F238E27FC236}">
                <a16:creationId xmlns:a16="http://schemas.microsoft.com/office/drawing/2014/main" id="{B7B6867A-F02A-455D-A5DA-DB8FB628ED00}"/>
              </a:ext>
            </a:extLst>
          </p:cNvPr>
          <p:cNvSpPr>
            <a:spLocks noGrp="1"/>
          </p:cNvSpPr>
          <p:nvPr/>
        </p:nvSpPr>
        <p:spPr>
          <a:xfrm>
            <a:off x="8496300" y="2400300"/>
            <a:ext cx="2571750" cy="32385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How much water?</a:t>
            </a:r>
          </a:p>
        </p:txBody>
      </p:sp>
      <p:sp>
        <p:nvSpPr>
          <p:cNvPr id="14" name="text">
            <a:extLst>
              <a:ext uri="{FF2B5EF4-FFF2-40B4-BE49-F238E27FC236}">
                <a16:creationId xmlns:a16="http://schemas.microsoft.com/office/drawing/2014/main" id="{24E480B7-0ADB-4B1D-A69E-D2661EA13E4B}"/>
              </a:ext>
            </a:extLst>
          </p:cNvPr>
          <p:cNvSpPr>
            <a:spLocks noGrp="1"/>
          </p:cNvSpPr>
          <p:nvPr/>
        </p:nvSpPr>
        <p:spPr>
          <a:xfrm>
            <a:off x="8496300" y="2809875"/>
            <a:ext cx="2571750" cy="2667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Impact unknown</a:t>
            </a:r>
          </a:p>
        </p:txBody>
      </p:sp>
      <p:sp>
        <p:nvSpPr>
          <p:cNvPr id="15" name="椭圆 14">
            <a:extLst>
              <a:ext uri="{FF2B5EF4-FFF2-40B4-BE49-F238E27FC236}">
                <a16:creationId xmlns:a16="http://schemas.microsoft.com/office/drawing/2014/main" id="{2908E805-2A91-4828-AFA7-C5ECDBE988D3}"/>
              </a:ext>
            </a:extLst>
          </p:cNvPr>
          <p:cNvSpPr>
            <a:spLocks noGrp="1"/>
          </p:cNvSpPr>
          <p:nvPr/>
        </p:nvSpPr>
        <p:spPr>
          <a:xfrm>
            <a:off x="4762500" y="3905250"/>
            <a:ext cx="209550" cy="209550"/>
          </a:xfrm>
          <a:prstGeom prst="ellipse">
            <a:avLst/>
          </a:prstGeom>
          <a:solidFill>
            <a:srgbClr val="28C882"/>
          </a:solidFill>
          <a:ln w="0">
            <a:noFill/>
            <a:prstDash val="solid"/>
          </a:ln>
        </p:spPr>
        <p:txBody>
          <a:bodyPr/>
          <a:lstStyle/>
          <a:p>
            <a:endParaRPr/>
          </a:p>
        </p:txBody>
      </p:sp>
      <p:sp>
        <p:nvSpPr>
          <p:cNvPr id="16" name="text">
            <a:extLst>
              <a:ext uri="{FF2B5EF4-FFF2-40B4-BE49-F238E27FC236}">
                <a16:creationId xmlns:a16="http://schemas.microsoft.com/office/drawing/2014/main" id="{E203EEA1-F9A6-4BBF-B359-2B69A2FE9CDA}"/>
              </a:ext>
            </a:extLst>
          </p:cNvPr>
          <p:cNvSpPr>
            <a:spLocks noGrp="1"/>
          </p:cNvSpPr>
          <p:nvPr/>
        </p:nvSpPr>
        <p:spPr>
          <a:xfrm>
            <a:off x="5162550" y="3829050"/>
            <a:ext cx="2571750" cy="32385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What emissions?</a:t>
            </a:r>
          </a:p>
        </p:txBody>
      </p:sp>
      <p:sp>
        <p:nvSpPr>
          <p:cNvPr id="17" name="text">
            <a:extLst>
              <a:ext uri="{FF2B5EF4-FFF2-40B4-BE49-F238E27FC236}">
                <a16:creationId xmlns:a16="http://schemas.microsoft.com/office/drawing/2014/main" id="{CFFD90E1-D311-4C7A-A224-863240E6CC61}"/>
              </a:ext>
            </a:extLst>
          </p:cNvPr>
          <p:cNvSpPr>
            <a:spLocks noGrp="1"/>
          </p:cNvSpPr>
          <p:nvPr/>
        </p:nvSpPr>
        <p:spPr>
          <a:xfrm>
            <a:off x="5162550" y="4238625"/>
            <a:ext cx="2571750" cy="2667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Impact unknown</a:t>
            </a:r>
          </a:p>
        </p:txBody>
      </p:sp>
      <p:sp>
        <p:nvSpPr>
          <p:cNvPr id="18" name="椭圆 17">
            <a:extLst>
              <a:ext uri="{FF2B5EF4-FFF2-40B4-BE49-F238E27FC236}">
                <a16:creationId xmlns:a16="http://schemas.microsoft.com/office/drawing/2014/main" id="{A29C618F-C1B2-42FF-882D-0E2D214A2C8F}"/>
              </a:ext>
            </a:extLst>
          </p:cNvPr>
          <p:cNvSpPr>
            <a:spLocks noGrp="1"/>
          </p:cNvSpPr>
          <p:nvPr/>
        </p:nvSpPr>
        <p:spPr>
          <a:xfrm>
            <a:off x="8096250" y="3905250"/>
            <a:ext cx="209550" cy="209550"/>
          </a:xfrm>
          <a:prstGeom prst="ellipse">
            <a:avLst/>
          </a:prstGeom>
          <a:solidFill>
            <a:srgbClr val="87005A"/>
          </a:solidFill>
          <a:ln w="0">
            <a:noFill/>
            <a:prstDash val="solid"/>
          </a:ln>
        </p:spPr>
        <p:txBody>
          <a:bodyPr/>
          <a:lstStyle/>
          <a:p>
            <a:endParaRPr/>
          </a:p>
        </p:txBody>
      </p:sp>
      <p:sp>
        <p:nvSpPr>
          <p:cNvPr id="19" name="text">
            <a:extLst>
              <a:ext uri="{FF2B5EF4-FFF2-40B4-BE49-F238E27FC236}">
                <a16:creationId xmlns:a16="http://schemas.microsoft.com/office/drawing/2014/main" id="{874DF700-68CF-4D76-8678-29F89BF1B16A}"/>
              </a:ext>
            </a:extLst>
          </p:cNvPr>
          <p:cNvSpPr>
            <a:spLocks noGrp="1"/>
          </p:cNvSpPr>
          <p:nvPr/>
        </p:nvSpPr>
        <p:spPr>
          <a:xfrm>
            <a:off x="8496300" y="3829050"/>
            <a:ext cx="2571750" cy="323850"/>
          </a:xfrm>
          <a:prstGeom prst="rect">
            <a:avLst/>
          </a:prstGeom>
          <a:noFill/>
          <a:ln w="0">
            <a:noFill/>
            <a:prstDash val="solid"/>
          </a:ln>
        </p:spPr>
        <p:txBody>
          <a:bodyPr/>
          <a:lstStyle/>
          <a:p>
            <a:pPr algn="l">
              <a:buNone/>
              <a:defRPr sz="1650" b="1">
                <a:solidFill>
                  <a:srgbClr val="003223"/>
                </a:solidFill>
              </a:defRPr>
            </a:pPr>
            <a:r>
              <a:rPr sz="1650" b="1">
                <a:solidFill>
                  <a:srgbClr val="003223"/>
                </a:solidFill>
              </a:rPr>
              <a:t>Compost or landfill?</a:t>
            </a:r>
          </a:p>
        </p:txBody>
      </p:sp>
      <p:sp>
        <p:nvSpPr>
          <p:cNvPr id="20" name="text">
            <a:extLst>
              <a:ext uri="{FF2B5EF4-FFF2-40B4-BE49-F238E27FC236}">
                <a16:creationId xmlns:a16="http://schemas.microsoft.com/office/drawing/2014/main" id="{E0450F28-CC24-473F-AF61-35B1562278BA}"/>
              </a:ext>
            </a:extLst>
          </p:cNvPr>
          <p:cNvSpPr>
            <a:spLocks noGrp="1"/>
          </p:cNvSpPr>
          <p:nvPr/>
        </p:nvSpPr>
        <p:spPr>
          <a:xfrm>
            <a:off x="8496300" y="4238625"/>
            <a:ext cx="2571750" cy="2667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Better choice unknown</a:t>
            </a:r>
          </a:p>
        </p:txBody>
      </p:sp>
      <p:sp>
        <p:nvSpPr>
          <p:cNvPr id="21" name="text">
            <a:extLst>
              <a:ext uri="{FF2B5EF4-FFF2-40B4-BE49-F238E27FC236}">
                <a16:creationId xmlns:a16="http://schemas.microsoft.com/office/drawing/2014/main" id="{1BF6C149-A3BE-478A-A999-386597BCF679}"/>
              </a:ext>
            </a:extLst>
          </p:cNvPr>
          <p:cNvSpPr>
            <a:spLocks noGrp="1"/>
          </p:cNvSpPr>
          <p:nvPr/>
        </p:nvSpPr>
        <p:spPr>
          <a:xfrm>
            <a:off x="4762500" y="5334000"/>
            <a:ext cx="6572250" cy="400050"/>
          </a:xfrm>
          <a:prstGeom prst="rect">
            <a:avLst/>
          </a:prstGeom>
          <a:noFill/>
          <a:ln w="0">
            <a:noFill/>
            <a:prstDash val="solid"/>
          </a:ln>
        </p:spPr>
        <p:txBody>
          <a:bodyPr/>
          <a:lstStyle/>
          <a:p>
            <a:pPr algn="l">
              <a:buNone/>
              <a:defRPr sz="1500" b="1">
                <a:solidFill>
                  <a:srgbClr val="003223"/>
                </a:solidFill>
              </a:defRPr>
            </a:pPr>
            <a:r>
              <a:rPr sz="1500" b="1">
                <a:solidFill>
                  <a:srgbClr val="003223"/>
                </a:solidFill>
              </a:rPr>
              <a:t>Around one-third of food produced globally is lost or wasted.</a:t>
            </a:r>
          </a:p>
        </p:txBody>
      </p:sp>
      <p:sp>
        <p:nvSpPr>
          <p:cNvPr id="23" name="stat-source">
            <a:extLst>
              <a:ext uri="{FF2B5EF4-FFF2-40B4-BE49-F238E27FC236}">
                <a16:creationId xmlns:a16="http://schemas.microsoft.com/office/drawing/2014/main" id="{8E7B88B7-A056-42F9-A371-67A5AF8FE15D}"/>
              </a:ext>
            </a:extLst>
          </p:cNvPr>
          <p:cNvSpPr>
            <a:spLocks noGrp="1"/>
          </p:cNvSpPr>
          <p:nvPr/>
        </p:nvSpPr>
        <p:spPr>
          <a:xfrm>
            <a:off x="4762500" y="5810250"/>
            <a:ext cx="6572250" cy="171450"/>
          </a:xfrm>
          <a:prstGeom prst="rect">
            <a:avLst/>
          </a:prstGeom>
          <a:noFill/>
          <a:ln w="0">
            <a:noFill/>
            <a:prstDash val="solid"/>
          </a:ln>
        </p:spPr>
        <p:txBody>
          <a:bodyPr/>
          <a:lstStyle/>
          <a:p>
            <a:pPr algn="l">
              <a:buNone/>
              <a:defRPr sz="825" b="0">
                <a:solidFill>
                  <a:srgbClr val="465F56"/>
                </a:solidFill>
              </a:defRPr>
            </a:pPr>
            <a:r>
              <a:rPr sz="825" b="0">
                <a:solidFill>
                  <a:srgbClr val="465F56"/>
                </a:solidFill>
              </a:rPr>
              <a:t>Source: FAO — Global Food Losses and Food Waste</a:t>
            </a:r>
          </a:p>
        </p:txBody>
      </p:sp>
      <p:sp>
        <p:nvSpPr>
          <p:cNvPr id="25" name="presenter-placeholder">
            <a:extLst>
              <a:ext uri="{FF2B5EF4-FFF2-40B4-BE49-F238E27FC236}">
                <a16:creationId xmlns:a16="http://schemas.microsoft.com/office/drawing/2014/main" id="{67CCA071-68FA-AE80-E67D-6B1CD2A03EF2}"/>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[Austin Sha]</a:t>
            </a:r>
          </a:p>
        </p:txBody>
      </p:sp>
    </p:spTree>
    <p:extLst>
      <p:ext uri="{BB962C8B-B14F-4D97-AF65-F5344CB8AC3E}">
        <p14:creationId xmlns:p14="http://schemas.microsoft.com/office/powerpoint/2010/main" val="1983035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19" name="eyebrow-5">
            <a:extLst>
              <a:ext uri="{FF2B5EF4-FFF2-40B4-BE49-F238E27FC236}">
                <a16:creationId xmlns:a16="http://schemas.microsoft.com/office/drawing/2014/main" id="{3713C2E7-49C0-460A-9AC9-160CD6D67122}"/>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5">
            <a:extLst>
              <a:ext uri="{FF2B5EF4-FFF2-40B4-BE49-F238E27FC236}">
                <a16:creationId xmlns:a16="http://schemas.microsoft.com/office/drawing/2014/main" id="{E9DA514E-22FF-45E4-89D1-BE0A9A04F597}"/>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05</a:t>
            </a:r>
          </a:p>
        </p:txBody>
      </p:sp>
      <p:sp>
        <p:nvSpPr>
          <p:cNvPr id="3" name="title-5">
            <a:extLst>
              <a:ext uri="{FF2B5EF4-FFF2-40B4-BE49-F238E27FC236}">
                <a16:creationId xmlns:a16="http://schemas.microsoft.com/office/drawing/2014/main" id="{09B2C3B2-99A7-4A51-AEDF-230B7B574F40}"/>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Existing tools prove the idea — but not the NZ fit</a:t>
            </a:r>
          </a:p>
        </p:txBody>
      </p:sp>
      <p:sp>
        <p:nvSpPr>
          <p:cNvPr id="4" name="subtitle-5">
            <a:extLst>
              <a:ext uri="{FF2B5EF4-FFF2-40B4-BE49-F238E27FC236}">
                <a16:creationId xmlns:a16="http://schemas.microsoft.com/office/drawing/2014/main" id="{01D10943-7021-47E2-922F-94735A69DF56}"/>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00" b="0">
                <a:solidFill>
                  <a:srgbClr val="465F56"/>
                </a:solidFill>
              </a:defRPr>
            </a:pPr>
            <a:r>
              <a:rPr sz="1200" b="0">
                <a:solidFill>
                  <a:srgbClr val="465F56"/>
                </a:solidFill>
              </a:rPr>
              <a:t>ReFED demonstrates what impact calculators can achieve, but it is not designed for Kai Commitment’s New Zealand context and calculation requirements.</a:t>
            </a:r>
          </a:p>
        </p:txBody>
      </p:sp>
      <p:sp>
        <p:nvSpPr>
          <p:cNvPr id="5" name="refed">
            <a:extLst>
              <a:ext uri="{FF2B5EF4-FFF2-40B4-BE49-F238E27FC236}">
                <a16:creationId xmlns:a16="http://schemas.microsoft.com/office/drawing/2014/main" id="{15268EB2-3BE6-4838-BBC2-7015E2156992}"/>
              </a:ext>
            </a:extLst>
          </p:cNvPr>
          <p:cNvSpPr>
            <a:spLocks noGrp="1"/>
          </p:cNvSpPr>
          <p:nvPr/>
        </p:nvSpPr>
        <p:spPr>
          <a:xfrm>
            <a:off x="685800" y="2381250"/>
            <a:ext cx="4324350" cy="2743200"/>
          </a:xfrm>
          <a:prstGeom prst="roundRect">
            <a:avLst>
              <a:gd name="adj" fmla="val 9722"/>
            </a:avLst>
          </a:prstGeom>
          <a:solidFill>
            <a:srgbClr val="FFFFFF"/>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6" name="text">
            <a:extLst>
              <a:ext uri="{FF2B5EF4-FFF2-40B4-BE49-F238E27FC236}">
                <a16:creationId xmlns:a16="http://schemas.microsoft.com/office/drawing/2014/main" id="{FD56CD6E-E40C-465D-9AA0-66B83107EA04}"/>
              </a:ext>
            </a:extLst>
          </p:cNvPr>
          <p:cNvSpPr>
            <a:spLocks noGrp="1"/>
          </p:cNvSpPr>
          <p:nvPr/>
        </p:nvSpPr>
        <p:spPr>
          <a:xfrm>
            <a:off x="1009650" y="2686050"/>
            <a:ext cx="3429000" cy="304800"/>
          </a:xfrm>
          <a:prstGeom prst="rect">
            <a:avLst/>
          </a:prstGeom>
          <a:noFill/>
          <a:ln w="0">
            <a:noFill/>
            <a:prstDash val="solid"/>
          </a:ln>
        </p:spPr>
        <p:txBody>
          <a:bodyPr/>
          <a:lstStyle/>
          <a:p>
            <a:pPr algn="l">
              <a:buNone/>
              <a:defRPr sz="1800" b="1">
                <a:solidFill>
                  <a:srgbClr val="003223"/>
                </a:solidFill>
              </a:defRPr>
            </a:pPr>
            <a:r>
              <a:rPr sz="1800" b="1">
                <a:solidFill>
                  <a:srgbClr val="003223"/>
                </a:solidFill>
              </a:rPr>
              <a:t>EXISTING APPROACH</a:t>
            </a:r>
          </a:p>
        </p:txBody>
      </p:sp>
      <p:sp>
        <p:nvSpPr>
          <p:cNvPr id="7" name="text">
            <a:extLst>
              <a:ext uri="{FF2B5EF4-FFF2-40B4-BE49-F238E27FC236}">
                <a16:creationId xmlns:a16="http://schemas.microsoft.com/office/drawing/2014/main" id="{71333C66-B1CA-46B7-8B31-0A86A5FC3EB6}"/>
              </a:ext>
            </a:extLst>
          </p:cNvPr>
          <p:cNvSpPr>
            <a:spLocks noGrp="1"/>
          </p:cNvSpPr>
          <p:nvPr/>
        </p:nvSpPr>
        <p:spPr>
          <a:xfrm>
            <a:off x="1009650" y="3276600"/>
            <a:ext cx="3333750" cy="819150"/>
          </a:xfrm>
          <a:prstGeom prst="rect">
            <a:avLst/>
          </a:prstGeom>
          <a:noFill/>
          <a:ln w="0">
            <a:noFill/>
            <a:prstDash val="solid"/>
          </a:ln>
        </p:spPr>
        <p:txBody>
          <a:bodyPr/>
          <a:lstStyle/>
          <a:p>
            <a:pPr algn="l">
              <a:buNone/>
              <a:defRPr sz="1500" b="0">
                <a:solidFill>
                  <a:srgbClr val="465F56"/>
                </a:solidFill>
              </a:defRPr>
            </a:pPr>
            <a:r>
              <a:rPr sz="1500" b="0">
                <a:solidFill>
                  <a:srgbClr val="465F56"/>
                </a:solidFill>
              </a:rPr>
              <a:t>ReFED and other impact calculators demonstrate that everyday waste data can be translated into impact.</a:t>
            </a:r>
          </a:p>
        </p:txBody>
      </p:sp>
      <p:sp>
        <p:nvSpPr>
          <p:cNvPr id="8" name="proof-pill">
            <a:extLst>
              <a:ext uri="{FF2B5EF4-FFF2-40B4-BE49-F238E27FC236}">
                <a16:creationId xmlns:a16="http://schemas.microsoft.com/office/drawing/2014/main" id="{822DB7C9-B83A-41CF-99EA-EE42C754DFE9}"/>
              </a:ext>
            </a:extLst>
          </p:cNvPr>
          <p:cNvSpPr>
            <a:spLocks noGrp="1"/>
          </p:cNvSpPr>
          <p:nvPr/>
        </p:nvSpPr>
        <p:spPr>
          <a:xfrm>
            <a:off x="1009650" y="4400550"/>
            <a:ext cx="1809750" cy="457200"/>
          </a:xfrm>
          <a:prstGeom prst="roundRect">
            <a:avLst>
              <a:gd name="adj" fmla="val 45833"/>
            </a:avLst>
          </a:prstGeom>
          <a:solidFill>
            <a:srgbClr val="F4F8F6"/>
          </a:solidFill>
          <a:ln w="0">
            <a:noFill/>
            <a:prstDash val="solid"/>
          </a:ln>
        </p:spPr>
        <p:txBody>
          <a:bodyPr/>
          <a:lstStyle/>
          <a:p>
            <a:endParaRPr/>
          </a:p>
        </p:txBody>
      </p:sp>
      <p:sp>
        <p:nvSpPr>
          <p:cNvPr id="9" name="text">
            <a:extLst>
              <a:ext uri="{FF2B5EF4-FFF2-40B4-BE49-F238E27FC236}">
                <a16:creationId xmlns:a16="http://schemas.microsoft.com/office/drawing/2014/main" id="{9DBB8621-9479-4381-9B7F-8645704B1092}"/>
              </a:ext>
            </a:extLst>
          </p:cNvPr>
          <p:cNvSpPr>
            <a:spLocks noGrp="1"/>
          </p:cNvSpPr>
          <p:nvPr/>
        </p:nvSpPr>
        <p:spPr>
          <a:xfrm>
            <a:off x="1200150" y="4533900"/>
            <a:ext cx="1428750" cy="228600"/>
          </a:xfrm>
          <a:prstGeom prst="rect">
            <a:avLst/>
          </a:prstGeom>
          <a:noFill/>
          <a:ln w="0">
            <a:noFill/>
            <a:prstDash val="solid"/>
          </a:ln>
        </p:spPr>
        <p:txBody>
          <a:bodyPr/>
          <a:lstStyle/>
          <a:p>
            <a:pPr algn="ctr">
              <a:buNone/>
              <a:defRPr sz="1275" b="1">
                <a:solidFill>
                  <a:srgbClr val="003223"/>
                </a:solidFill>
              </a:defRPr>
            </a:pPr>
            <a:r>
              <a:rPr sz="1275" b="1">
                <a:solidFill>
                  <a:srgbClr val="003223"/>
                </a:solidFill>
              </a:rPr>
              <a:t>Proof of value</a:t>
            </a:r>
          </a:p>
        </p:txBody>
      </p:sp>
      <p:sp>
        <p:nvSpPr>
          <p:cNvPr id="10" name="nz-gap">
            <a:extLst>
              <a:ext uri="{FF2B5EF4-FFF2-40B4-BE49-F238E27FC236}">
                <a16:creationId xmlns:a16="http://schemas.microsoft.com/office/drawing/2014/main" id="{D0BE9503-25EC-4D90-AC28-98CB0B5A0D29}"/>
              </a:ext>
            </a:extLst>
          </p:cNvPr>
          <p:cNvSpPr>
            <a:spLocks noGrp="1"/>
          </p:cNvSpPr>
          <p:nvPr/>
        </p:nvSpPr>
        <p:spPr>
          <a:xfrm>
            <a:off x="5772150" y="2381250"/>
            <a:ext cx="5734050" cy="2743200"/>
          </a:xfrm>
          <a:prstGeom prst="roundRect">
            <a:avLst>
              <a:gd name="adj" fmla="val 9722"/>
            </a:avLst>
          </a:prstGeom>
          <a:solidFill>
            <a:srgbClr val="003223"/>
          </a:solidFill>
          <a:ln w="0">
            <a:noFill/>
            <a:prstDash val="solid"/>
          </a:ln>
        </p:spPr>
        <p:style>
          <a:lnRef idx="0">
            <a:scrgbClr r="0" g="0" b="0"/>
          </a:lnRef>
          <a:fillRef idx="0">
            <a:scrgbClr r="0" g="0" b="0"/>
          </a:fillRef>
          <a:effectRef idx="7">
            <a:scrgbClr r="0" g="0" b="0"/>
          </a:effectRef>
          <a:fontRef idx="major"/>
        </p:style>
        <p:txBody>
          <a:bodyPr/>
          <a:lstStyle/>
          <a:p>
            <a:endParaRPr/>
          </a:p>
        </p:txBody>
      </p:sp>
      <p:sp>
        <p:nvSpPr>
          <p:cNvPr id="11" name="text">
            <a:extLst>
              <a:ext uri="{FF2B5EF4-FFF2-40B4-BE49-F238E27FC236}">
                <a16:creationId xmlns:a16="http://schemas.microsoft.com/office/drawing/2014/main" id="{605CDD71-2E2A-4F85-9944-56E7933AE079}"/>
              </a:ext>
            </a:extLst>
          </p:cNvPr>
          <p:cNvSpPr>
            <a:spLocks noGrp="1"/>
          </p:cNvSpPr>
          <p:nvPr/>
        </p:nvSpPr>
        <p:spPr>
          <a:xfrm>
            <a:off x="6153150" y="2686050"/>
            <a:ext cx="4857750" cy="304800"/>
          </a:xfrm>
          <a:prstGeom prst="rect">
            <a:avLst/>
          </a:prstGeom>
          <a:noFill/>
          <a:ln w="0">
            <a:noFill/>
            <a:prstDash val="solid"/>
          </a:ln>
        </p:spPr>
        <p:txBody>
          <a:bodyPr/>
          <a:lstStyle/>
          <a:p>
            <a:pPr algn="l">
              <a:buNone/>
              <a:defRPr sz="1800" b="1">
                <a:solidFill>
                  <a:srgbClr val="DFF8ED"/>
                </a:solidFill>
              </a:defRPr>
            </a:pPr>
            <a:r>
              <a:rPr sz="1800" b="1">
                <a:solidFill>
                  <a:srgbClr val="DFF8ED"/>
                </a:solidFill>
              </a:rPr>
              <a:t>THE GAP → OUR OPPORTUNITY</a:t>
            </a:r>
          </a:p>
        </p:txBody>
      </p:sp>
      <p:sp>
        <p:nvSpPr>
          <p:cNvPr id="12" name="椭圆 11">
            <a:extLst>
              <a:ext uri="{FF2B5EF4-FFF2-40B4-BE49-F238E27FC236}">
                <a16:creationId xmlns:a16="http://schemas.microsoft.com/office/drawing/2014/main" id="{3EDBCB5A-D515-44D3-A4B4-1CBB86CE2025}"/>
              </a:ext>
            </a:extLst>
          </p:cNvPr>
          <p:cNvSpPr>
            <a:spLocks noGrp="1"/>
          </p:cNvSpPr>
          <p:nvPr/>
        </p:nvSpPr>
        <p:spPr>
          <a:xfrm>
            <a:off x="6172200" y="3333750"/>
            <a:ext cx="209550" cy="209550"/>
          </a:xfrm>
          <a:prstGeom prst="ellipse">
            <a:avLst/>
          </a:prstGeom>
          <a:solidFill>
            <a:srgbClr val="28C882"/>
          </a:solidFill>
          <a:ln w="0">
            <a:noFill/>
            <a:prstDash val="solid"/>
          </a:ln>
        </p:spPr>
        <p:txBody>
          <a:bodyPr/>
          <a:lstStyle/>
          <a:p>
            <a:endParaRPr/>
          </a:p>
        </p:txBody>
      </p:sp>
      <p:sp>
        <p:nvSpPr>
          <p:cNvPr id="13" name="text">
            <a:extLst>
              <a:ext uri="{FF2B5EF4-FFF2-40B4-BE49-F238E27FC236}">
                <a16:creationId xmlns:a16="http://schemas.microsoft.com/office/drawing/2014/main" id="{59223876-278E-4C52-A41C-D62FE67A789C}"/>
              </a:ext>
            </a:extLst>
          </p:cNvPr>
          <p:cNvSpPr>
            <a:spLocks noGrp="1"/>
          </p:cNvSpPr>
          <p:nvPr/>
        </p:nvSpPr>
        <p:spPr>
          <a:xfrm>
            <a:off x="6572250" y="3276600"/>
            <a:ext cx="4286250" cy="323850"/>
          </a:xfrm>
          <a:prstGeom prst="rect">
            <a:avLst/>
          </a:prstGeom>
          <a:noFill/>
          <a:ln w="0">
            <a:noFill/>
            <a:prstDash val="solid"/>
          </a:ln>
        </p:spPr>
        <p:txBody>
          <a:bodyPr/>
          <a:lstStyle/>
          <a:p>
            <a:pPr algn="l">
              <a:buNone/>
              <a:defRPr sz="1575" b="1">
                <a:solidFill>
                  <a:srgbClr val="FFFFFF"/>
                </a:solidFill>
              </a:defRPr>
            </a:pPr>
            <a:r>
              <a:rPr sz="1575" b="1">
                <a:solidFill>
                  <a:srgbClr val="FFFFFF"/>
                </a:solidFill>
              </a:rPr>
              <a:t>New Zealand food system</a:t>
            </a:r>
          </a:p>
        </p:txBody>
      </p:sp>
      <p:sp>
        <p:nvSpPr>
          <p:cNvPr id="14" name="椭圆 13">
            <a:extLst>
              <a:ext uri="{FF2B5EF4-FFF2-40B4-BE49-F238E27FC236}">
                <a16:creationId xmlns:a16="http://schemas.microsoft.com/office/drawing/2014/main" id="{A4469A47-4770-4434-BB62-85A5E82203AD}"/>
              </a:ext>
            </a:extLst>
          </p:cNvPr>
          <p:cNvSpPr>
            <a:spLocks noGrp="1"/>
          </p:cNvSpPr>
          <p:nvPr/>
        </p:nvSpPr>
        <p:spPr>
          <a:xfrm>
            <a:off x="6172200" y="3848100"/>
            <a:ext cx="209550" cy="209550"/>
          </a:xfrm>
          <a:prstGeom prst="ellipse">
            <a:avLst/>
          </a:prstGeom>
          <a:solidFill>
            <a:srgbClr val="FFD76E"/>
          </a:solidFill>
          <a:ln w="0">
            <a:noFill/>
            <a:prstDash val="solid"/>
          </a:ln>
        </p:spPr>
        <p:txBody>
          <a:bodyPr/>
          <a:lstStyle/>
          <a:p>
            <a:endParaRPr/>
          </a:p>
        </p:txBody>
      </p:sp>
      <p:sp>
        <p:nvSpPr>
          <p:cNvPr id="15" name="text">
            <a:extLst>
              <a:ext uri="{FF2B5EF4-FFF2-40B4-BE49-F238E27FC236}">
                <a16:creationId xmlns:a16="http://schemas.microsoft.com/office/drawing/2014/main" id="{291CDB4E-2F88-41D5-B3A2-B13325E6D47D}"/>
              </a:ext>
            </a:extLst>
          </p:cNvPr>
          <p:cNvSpPr>
            <a:spLocks noGrp="1"/>
          </p:cNvSpPr>
          <p:nvPr/>
        </p:nvSpPr>
        <p:spPr>
          <a:xfrm>
            <a:off x="6572250" y="3790950"/>
            <a:ext cx="4286250" cy="323850"/>
          </a:xfrm>
          <a:prstGeom prst="rect">
            <a:avLst/>
          </a:prstGeom>
          <a:noFill/>
          <a:ln w="0">
            <a:noFill/>
            <a:prstDash val="solid"/>
          </a:ln>
        </p:spPr>
        <p:txBody>
          <a:bodyPr/>
          <a:lstStyle/>
          <a:p>
            <a:pPr algn="l">
              <a:buNone/>
              <a:defRPr sz="1575" b="1">
                <a:solidFill>
                  <a:srgbClr val="FFFFFF"/>
                </a:solidFill>
              </a:defRPr>
            </a:pPr>
            <a:r>
              <a:rPr sz="1575" b="1">
                <a:solidFill>
                  <a:srgbClr val="FFFFFF"/>
                </a:solidFill>
              </a:rPr>
              <a:t>Relevant waste destinations</a:t>
            </a:r>
          </a:p>
        </p:txBody>
      </p:sp>
      <p:sp>
        <p:nvSpPr>
          <p:cNvPr id="16" name="椭圆 15">
            <a:extLst>
              <a:ext uri="{FF2B5EF4-FFF2-40B4-BE49-F238E27FC236}">
                <a16:creationId xmlns:a16="http://schemas.microsoft.com/office/drawing/2014/main" id="{6C58C040-6AD3-4B97-B6D7-7A18BC372F59}"/>
              </a:ext>
            </a:extLst>
          </p:cNvPr>
          <p:cNvSpPr>
            <a:spLocks noGrp="1"/>
          </p:cNvSpPr>
          <p:nvPr/>
        </p:nvSpPr>
        <p:spPr>
          <a:xfrm>
            <a:off x="6172200" y="4362450"/>
            <a:ext cx="209550" cy="209550"/>
          </a:xfrm>
          <a:prstGeom prst="ellipse">
            <a:avLst/>
          </a:prstGeom>
          <a:solidFill>
            <a:srgbClr val="E6BEFF"/>
          </a:solidFill>
          <a:ln w="0">
            <a:noFill/>
            <a:prstDash val="solid"/>
          </a:ln>
        </p:spPr>
        <p:txBody>
          <a:bodyPr/>
          <a:lstStyle/>
          <a:p>
            <a:endParaRPr/>
          </a:p>
        </p:txBody>
      </p:sp>
      <p:sp>
        <p:nvSpPr>
          <p:cNvPr id="17" name="text">
            <a:extLst>
              <a:ext uri="{FF2B5EF4-FFF2-40B4-BE49-F238E27FC236}">
                <a16:creationId xmlns:a16="http://schemas.microsoft.com/office/drawing/2014/main" id="{AE35BF2A-47F0-42C9-B92C-9DA273BFA2CE}"/>
              </a:ext>
            </a:extLst>
          </p:cNvPr>
          <p:cNvSpPr>
            <a:spLocks noGrp="1"/>
          </p:cNvSpPr>
          <p:nvPr/>
        </p:nvSpPr>
        <p:spPr>
          <a:xfrm>
            <a:off x="6572250" y="4305300"/>
            <a:ext cx="4286250" cy="323850"/>
          </a:xfrm>
          <a:prstGeom prst="rect">
            <a:avLst/>
          </a:prstGeom>
          <a:noFill/>
          <a:ln w="0">
            <a:noFill/>
            <a:prstDash val="solid"/>
          </a:ln>
        </p:spPr>
        <p:txBody>
          <a:bodyPr/>
          <a:lstStyle/>
          <a:p>
            <a:pPr algn="l">
              <a:buNone/>
              <a:defRPr sz="1575" b="1">
                <a:solidFill>
                  <a:srgbClr val="FFFFFF"/>
                </a:solidFill>
              </a:defRPr>
            </a:pPr>
            <a:r>
              <a:rPr sz="1575" b="1">
                <a:solidFill>
                  <a:srgbClr val="FFFFFF"/>
                </a:solidFill>
              </a:rPr>
              <a:t>Approved or local impact factors</a:t>
            </a:r>
          </a:p>
        </p:txBody>
      </p:sp>
      <p:sp>
        <p:nvSpPr>
          <p:cNvPr id="18" name="text">
            <a:extLst>
              <a:ext uri="{FF2B5EF4-FFF2-40B4-BE49-F238E27FC236}">
                <a16:creationId xmlns:a16="http://schemas.microsoft.com/office/drawing/2014/main" id="{FAC70D5A-2803-48B4-B05C-04BE2B3FF4AB}"/>
              </a:ext>
            </a:extLst>
          </p:cNvPr>
          <p:cNvSpPr>
            <a:spLocks noGrp="1"/>
          </p:cNvSpPr>
          <p:nvPr/>
        </p:nvSpPr>
        <p:spPr>
          <a:xfrm>
            <a:off x="685800" y="5619750"/>
            <a:ext cx="10820400" cy="419100"/>
          </a:xfrm>
          <a:prstGeom prst="rect">
            <a:avLst/>
          </a:prstGeom>
          <a:noFill/>
          <a:ln w="0">
            <a:noFill/>
            <a:prstDash val="solid"/>
          </a:ln>
        </p:spPr>
        <p:txBody>
          <a:bodyPr/>
          <a:lstStyle/>
          <a:p>
            <a:pPr algn="ctr">
              <a:buNone/>
              <a:defRPr sz="1725" b="1">
                <a:solidFill>
                  <a:srgbClr val="003223"/>
                </a:solidFill>
              </a:defRPr>
            </a:pPr>
            <a:r>
              <a:rPr sz="1725" b="1">
                <a:solidFill>
                  <a:srgbClr val="003223"/>
                </a:solidFill>
              </a:rPr>
              <a:t>A New Zealand-focused calculator for Kai Commitment — including local costs where applicable.</a:t>
            </a:r>
          </a:p>
        </p:txBody>
      </p:sp>
      <p:sp>
        <p:nvSpPr>
          <p:cNvPr id="20" name="presenter-placeholder">
            <a:extLst>
              <a:ext uri="{FF2B5EF4-FFF2-40B4-BE49-F238E27FC236}">
                <a16:creationId xmlns:a16="http://schemas.microsoft.com/office/drawing/2014/main" id="{28DE286F-F1B3-44C9-A4CB-6FE59F7E5567}"/>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spTree>
    <p:extLst>
      <p:ext uri="{BB962C8B-B14F-4D97-AF65-F5344CB8AC3E}">
        <p14:creationId xmlns:p14="http://schemas.microsoft.com/office/powerpoint/2010/main" val="13652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1050"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06</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3200" b="1">
                <a:solidFill>
                  <a:srgbClr val="003223"/>
                </a:solidFill>
              </a:rPr>
              <a:t>From everyday waste data to meaningful impact</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600" b="1">
                <a:solidFill>
                  <a:srgbClr val="465F56"/>
                </a:solidFill>
              </a:rPr>
              <a:t>EVERYDAY WASTE DATA → KAI COMMITMENT CALCULATOR → MEANINGFUL RESULTS</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685800" y="2381250"/>
            <a:ext cx="3238500" cy="1257300"/>
          </a:xfrm>
          <a:prstGeom prst="roundRect">
            <a:avLst>
              <a:gd name="adj" fmla="val 19697"/>
            </a:avLst>
          </a:prstGeom>
          <a:solidFill>
            <a:srgbClr val="DFF8ED"/>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6" name="椭圆 5">
            <a:extLst>
              <a:ext uri="{FF2B5EF4-FFF2-40B4-BE49-F238E27FC236}">
                <a16:creationId xmlns:a16="http://schemas.microsoft.com/office/drawing/2014/main" id="{257C5723-5E6B-4D8E-8882-7D6B887F2526}"/>
              </a:ext>
            </a:extLst>
          </p:cNvPr>
          <p:cNvSpPr>
            <a:spLocks noGrp="1"/>
          </p:cNvSpPr>
          <p:nvPr/>
        </p:nvSpPr>
        <p:spPr>
          <a:xfrm>
            <a:off x="914400" y="2609850"/>
            <a:ext cx="361950" cy="361950"/>
          </a:xfrm>
          <a:prstGeom prst="ellipse">
            <a:avLst/>
          </a:prstGeom>
          <a:solidFill>
            <a:srgbClr val="003223"/>
          </a:solidFill>
          <a:ln w="0">
            <a:noFill/>
            <a:prstDash val="solid"/>
          </a:ln>
        </p:spPr>
        <p:txBody>
          <a:bodyPr/>
          <a:lstStyle/>
          <a:p>
            <a:endParaRPr lang="zh-CN" altLang="en-US" sz="2400"/>
          </a:p>
        </p:txBody>
      </p:sp>
      <p:sp>
        <p:nvSpPr>
          <p:cNvPr id="7" name="text">
            <a:extLst>
              <a:ext uri="{FF2B5EF4-FFF2-40B4-BE49-F238E27FC236}">
                <a16:creationId xmlns:a16="http://schemas.microsoft.com/office/drawing/2014/main" id="{CCD94797-7E6F-4948-BC47-3DEBF0F99AC4}"/>
              </a:ext>
            </a:extLst>
          </p:cNvPr>
          <p:cNvSpPr>
            <a:spLocks noGrp="1"/>
          </p:cNvSpPr>
          <p:nvPr/>
        </p:nvSpPr>
        <p:spPr>
          <a:xfrm>
            <a:off x="914400" y="27051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1</a:t>
            </a:r>
          </a:p>
        </p:txBody>
      </p:sp>
      <p:sp>
        <p:nvSpPr>
          <p:cNvPr id="8" name="text">
            <a:extLst>
              <a:ext uri="{FF2B5EF4-FFF2-40B4-BE49-F238E27FC236}">
                <a16:creationId xmlns:a16="http://schemas.microsoft.com/office/drawing/2014/main" id="{CBB6640E-4B05-44F0-9EAF-4ED8BB5A6389}"/>
              </a:ext>
            </a:extLst>
          </p:cNvPr>
          <p:cNvSpPr>
            <a:spLocks noGrp="1"/>
          </p:cNvSpPr>
          <p:nvPr/>
        </p:nvSpPr>
        <p:spPr>
          <a:xfrm>
            <a:off x="1466850" y="26193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Where</a:t>
            </a:r>
          </a:p>
        </p:txBody>
      </p:sp>
      <p:sp>
        <p:nvSpPr>
          <p:cNvPr id="9" name="text">
            <a:extLst>
              <a:ext uri="{FF2B5EF4-FFF2-40B4-BE49-F238E27FC236}">
                <a16:creationId xmlns:a16="http://schemas.microsoft.com/office/drawing/2014/main" id="{1862BD4F-5C8B-48B6-B88C-15DC9EE2C28C}"/>
              </a:ext>
            </a:extLst>
          </p:cNvPr>
          <p:cNvSpPr>
            <a:spLocks noGrp="1"/>
          </p:cNvSpPr>
          <p:nvPr/>
        </p:nvSpPr>
        <p:spPr>
          <a:xfrm>
            <a:off x="1466850" y="30194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Supply-chain stage</a:t>
            </a: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solidFill>
            <a:srgbClr val="FFD76E"/>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solidFill>
            <a:srgbClr val="003223"/>
          </a:solidFill>
          <a:ln w="0">
            <a:noFill/>
            <a:prstDash val="solid"/>
          </a:ln>
        </p:spPr>
        <p:txBody>
          <a:bodyPr/>
          <a:lstStyle/>
          <a:p>
            <a:endParaRPr lang="zh-CN" altLang="en-US" sz="2400"/>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solidFill>
            <a:srgbClr val="E6BEFF"/>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solidFill>
            <a:srgbClr val="003223"/>
          </a:solidFill>
          <a:ln w="0">
            <a:noFill/>
            <a:prstDash val="solid"/>
          </a:ln>
        </p:spPr>
        <p:txBody>
          <a:bodyPr/>
          <a:lstStyle/>
          <a:p>
            <a:endParaRPr lang="zh-CN" altLang="en-US" sz="2400"/>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kg or tonnes</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685800" y="3943350"/>
            <a:ext cx="3238500" cy="1257300"/>
          </a:xfrm>
          <a:prstGeom prst="roundRect">
            <a:avLst>
              <a:gd name="adj" fmla="val 19697"/>
            </a:avLst>
          </a:prstGeom>
          <a:solidFill>
            <a:srgbClr val="DDEBFF"/>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21" name="椭圆 20">
            <a:extLst>
              <a:ext uri="{FF2B5EF4-FFF2-40B4-BE49-F238E27FC236}">
                <a16:creationId xmlns:a16="http://schemas.microsoft.com/office/drawing/2014/main" id="{736FEECD-0249-4C96-A499-956F33759E98}"/>
              </a:ext>
            </a:extLst>
          </p:cNvPr>
          <p:cNvSpPr>
            <a:spLocks noGrp="1"/>
          </p:cNvSpPr>
          <p:nvPr/>
        </p:nvSpPr>
        <p:spPr>
          <a:xfrm>
            <a:off x="914400" y="4171950"/>
            <a:ext cx="361950" cy="361950"/>
          </a:xfrm>
          <a:prstGeom prst="ellipse">
            <a:avLst/>
          </a:prstGeom>
          <a:solidFill>
            <a:srgbClr val="003223"/>
          </a:solidFill>
          <a:ln w="0">
            <a:noFill/>
            <a:prstDash val="solid"/>
          </a:ln>
        </p:spPr>
        <p:txBody>
          <a:bodyPr/>
          <a:lstStyle/>
          <a:p>
            <a:endParaRPr lang="zh-CN" altLang="en-US" sz="2400"/>
          </a:p>
        </p:txBody>
      </p:sp>
      <p:sp>
        <p:nvSpPr>
          <p:cNvPr id="22" name="text">
            <a:extLst>
              <a:ext uri="{FF2B5EF4-FFF2-40B4-BE49-F238E27FC236}">
                <a16:creationId xmlns:a16="http://schemas.microsoft.com/office/drawing/2014/main" id="{FB4F7366-AD2A-42F3-83A4-16CCAE99B300}"/>
              </a:ext>
            </a:extLst>
          </p:cNvPr>
          <p:cNvSpPr>
            <a:spLocks noGrp="1"/>
          </p:cNvSpPr>
          <p:nvPr/>
        </p:nvSpPr>
        <p:spPr>
          <a:xfrm>
            <a:off x="914400" y="42672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4</a:t>
            </a:r>
          </a:p>
        </p:txBody>
      </p:sp>
      <p:sp>
        <p:nvSpPr>
          <p:cNvPr id="23" name="text">
            <a:extLst>
              <a:ext uri="{FF2B5EF4-FFF2-40B4-BE49-F238E27FC236}">
                <a16:creationId xmlns:a16="http://schemas.microsoft.com/office/drawing/2014/main" id="{A3CF44A9-6366-4EFD-8679-B681C7988882}"/>
              </a:ext>
            </a:extLst>
          </p:cNvPr>
          <p:cNvSpPr>
            <a:spLocks noGrp="1"/>
          </p:cNvSpPr>
          <p:nvPr/>
        </p:nvSpPr>
        <p:spPr>
          <a:xfrm>
            <a:off x="1466850" y="41814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Where to</a:t>
            </a:r>
          </a:p>
        </p:txBody>
      </p:sp>
      <p:sp>
        <p:nvSpPr>
          <p:cNvPr id="24" name="text">
            <a:extLst>
              <a:ext uri="{FF2B5EF4-FFF2-40B4-BE49-F238E27FC236}">
                <a16:creationId xmlns:a16="http://schemas.microsoft.com/office/drawing/2014/main" id="{DF47C499-A348-4EAA-941C-40AACE0A8256}"/>
              </a:ext>
            </a:extLst>
          </p:cNvPr>
          <p:cNvSpPr>
            <a:spLocks noGrp="1"/>
          </p:cNvSpPr>
          <p:nvPr/>
        </p:nvSpPr>
        <p:spPr>
          <a:xfrm>
            <a:off x="1466850" y="45815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Waste destination</a:t>
            </a: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solidFill>
            <a:srgbClr val="FFFAF0"/>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solidFill>
            <a:srgbClr val="003223"/>
          </a:solidFill>
          <a:ln w="0">
            <a:noFill/>
            <a:prstDash val="solid"/>
          </a:ln>
        </p:spPr>
        <p:txBody>
          <a:bodyPr/>
          <a:lstStyle/>
          <a:p>
            <a:endParaRPr lang="zh-CN" altLang="en-US" sz="2400"/>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Add or edit entries</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solidFill>
            <a:srgbClr val="F4F8F6"/>
          </a:solidFill>
          <a:ln w="0">
            <a:noFill/>
            <a:prstDash val="solid"/>
          </a:ln>
        </p:spPr>
        <p:style>
          <a:lnRef idx="0">
            <a:scrgbClr r="0" g="0" b="0"/>
          </a:lnRef>
          <a:fillRef idx="0">
            <a:scrgbClr r="0" g="0" b="0"/>
          </a:fillRef>
          <a:effectRef idx="4">
            <a:scrgbClr r="0" g="0" b="0"/>
          </a:effectRef>
          <a:fontRef idx="major"/>
        </p:style>
        <p:txBody>
          <a:bodyPr/>
          <a:lstStyle/>
          <a:p>
            <a:endParaRPr lang="zh-CN" altLang="en-US" sz="2400"/>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solidFill>
            <a:srgbClr val="003223"/>
          </a:solidFill>
          <a:ln w="0">
            <a:noFill/>
            <a:prstDash val="solid"/>
          </a:ln>
        </p:spPr>
        <p:txBody>
          <a:bodyPr/>
          <a:lstStyle/>
          <a:p>
            <a:endParaRPr lang="zh-CN" altLang="en-US" sz="2400"/>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20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600"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685800" y="5715000"/>
            <a:ext cx="10820400" cy="304800"/>
          </a:xfrm>
          <a:prstGeom prst="rect">
            <a:avLst/>
          </a:prstGeom>
          <a:noFill/>
          <a:ln w="0">
            <a:noFill/>
            <a:prstDash val="solid"/>
          </a:ln>
        </p:spPr>
        <p:txBody>
          <a:bodyPr/>
          <a:lstStyle/>
          <a:p>
            <a:pPr algn="ctr">
              <a:buNone/>
              <a:defRPr sz="1350" b="1">
                <a:solidFill>
                  <a:srgbClr val="003223"/>
                </a:solidFill>
              </a:defRPr>
            </a:pPr>
            <a:r>
              <a:rPr sz="1350" b="1">
                <a:solidFill>
                  <a:srgbClr val="003223"/>
                </a:solidFill>
              </a:rPr>
              <a:t>Multiple entries · review and edit · breakdown by stage, food type and destination</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dirty="0">
                <a:solidFill>
                  <a:srgbClr val="465F56"/>
                </a:solidFill>
              </a:rPr>
              <a:t>Presenter: [</a:t>
            </a:r>
            <a:r>
              <a:rPr lang="zh-CN" altLang="zh-CN" sz="825" b="1" dirty="0"/>
              <a:t>Ruoxuan Huang</a:t>
            </a:r>
            <a:r>
              <a:rPr sz="825" b="1" dirty="0">
                <a:solidFill>
                  <a:srgbClr val="465F56"/>
                </a:solidFill>
              </a:rPr>
              <a:t>]</a:t>
            </a:r>
          </a:p>
        </p:txBody>
      </p:sp>
    </p:spTree>
    <p:extLst>
      <p:ext uri="{BB962C8B-B14F-4D97-AF65-F5344CB8AC3E}">
        <p14:creationId xmlns:p14="http://schemas.microsoft.com/office/powerpoint/2010/main" val="2158075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journey-0">
            <a:extLst>
              <a:ext uri="{FF2B5EF4-FFF2-40B4-BE49-F238E27FC236}">
                <a16:creationId xmlns:a16="http://schemas.microsoft.com/office/drawing/2014/main" id="{4E468B50-C8E5-F755-4C87-17B6DFE01165}"/>
              </a:ext>
            </a:extLst>
          </p:cNvPr>
          <p:cNvSpPr>
            <a:spLocks noGrp="1"/>
          </p:cNvSpPr>
          <p:nvPr/>
        </p:nvSpPr>
        <p:spPr>
          <a:xfrm>
            <a:off x="685800" y="2576513"/>
            <a:ext cx="3238500" cy="1257300"/>
          </a:xfrm>
          <a:prstGeom prst="roundRect">
            <a:avLst>
              <a:gd name="adj" fmla="val 19697"/>
            </a:avLst>
          </a:prstGeom>
          <a:solidFill>
            <a:srgbClr val="DFF8ED"/>
          </a:solidFill>
          <a:ln w="7620">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06</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1 — Choose the supply-chain stage</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dirty="0">
                <a:solidFill>
                  <a:srgbClr val="465F56"/>
                </a:solidFill>
              </a:rPr>
              <a:t>WHERE DID THE FOOD WASTE OCCUR?</a:t>
            </a:r>
          </a:p>
        </p:txBody>
      </p:sp>
      <p:sp>
        <p:nvSpPr>
          <p:cNvPr id="6" name="椭圆 5">
            <a:extLst>
              <a:ext uri="{FF2B5EF4-FFF2-40B4-BE49-F238E27FC236}">
                <a16:creationId xmlns:a16="http://schemas.microsoft.com/office/drawing/2014/main" id="{257C5723-5E6B-4D8E-8882-7D6B887F2526}"/>
              </a:ext>
            </a:extLst>
          </p:cNvPr>
          <p:cNvSpPr>
            <a:spLocks noGrp="1"/>
          </p:cNvSpPr>
          <p:nvPr/>
        </p:nvSpPr>
        <p:spPr>
          <a:xfrm>
            <a:off x="914400" y="2919589"/>
            <a:ext cx="361950" cy="361950"/>
          </a:xfrm>
          <a:prstGeom prst="ellipse">
            <a:avLst/>
          </a:prstGeom>
          <a:solidFill>
            <a:srgbClr val="003223"/>
          </a:solidFill>
          <a:ln w="0">
            <a:noFill/>
            <a:prstDash val="solid"/>
          </a:ln>
        </p:spPr>
        <p:txBody>
          <a:bodyPr/>
          <a:lstStyle/>
          <a:p>
            <a:endParaRPr/>
          </a:p>
        </p:txBody>
      </p:sp>
      <p:sp>
        <p:nvSpPr>
          <p:cNvPr id="7" name="text">
            <a:extLst>
              <a:ext uri="{FF2B5EF4-FFF2-40B4-BE49-F238E27FC236}">
                <a16:creationId xmlns:a16="http://schemas.microsoft.com/office/drawing/2014/main" id="{CCD94797-7E6F-4948-BC47-3DEBF0F99AC4}"/>
              </a:ext>
            </a:extLst>
          </p:cNvPr>
          <p:cNvSpPr>
            <a:spLocks noGrp="1"/>
          </p:cNvSpPr>
          <p:nvPr/>
        </p:nvSpPr>
        <p:spPr>
          <a:xfrm>
            <a:off x="914400" y="29718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8" name="text">
            <a:extLst>
              <a:ext uri="{FF2B5EF4-FFF2-40B4-BE49-F238E27FC236}">
                <a16:creationId xmlns:a16="http://schemas.microsoft.com/office/drawing/2014/main" id="{CBB6640E-4B05-44F0-9EAF-4ED8BB5A6389}"/>
              </a:ext>
            </a:extLst>
          </p:cNvPr>
          <p:cNvSpPr>
            <a:spLocks noGrp="1"/>
          </p:cNvSpPr>
          <p:nvPr/>
        </p:nvSpPr>
        <p:spPr>
          <a:xfrm>
            <a:off x="1466850" y="2819400"/>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Where</a:t>
            </a:r>
          </a:p>
        </p:txBody>
      </p:sp>
      <p:sp>
        <p:nvSpPr>
          <p:cNvPr id="9" name="text">
            <a:extLst>
              <a:ext uri="{FF2B5EF4-FFF2-40B4-BE49-F238E27FC236}">
                <a16:creationId xmlns:a16="http://schemas.microsoft.com/office/drawing/2014/main" id="{1862BD4F-5C8B-48B6-B88C-15DC9EE2C28C}"/>
              </a:ext>
            </a:extLst>
          </p:cNvPr>
          <p:cNvSpPr>
            <a:spLocks noGrp="1"/>
          </p:cNvSpPr>
          <p:nvPr/>
        </p:nvSpPr>
        <p:spPr>
          <a:xfrm>
            <a:off x="1466850" y="3219450"/>
            <a:ext cx="2095500" cy="3429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Supply-chain stage</a:t>
            </a: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no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noFill/>
          <a:ln w="0">
            <a:noFill/>
            <a:prstDash val="solid"/>
          </a:ln>
        </p:spPr>
        <p:txBody>
          <a:bodyPr/>
          <a:lstStyle/>
          <a:p>
            <a:endParaRPr/>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6858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1" name="椭圆 20">
            <a:extLst>
              <a:ext uri="{FF2B5EF4-FFF2-40B4-BE49-F238E27FC236}">
                <a16:creationId xmlns:a16="http://schemas.microsoft.com/office/drawing/2014/main" id="{736FEECD-0249-4C96-A499-956F33759E98}"/>
              </a:ext>
            </a:extLst>
          </p:cNvPr>
          <p:cNvSpPr>
            <a:spLocks noGrp="1"/>
          </p:cNvSpPr>
          <p:nvPr/>
        </p:nvSpPr>
        <p:spPr>
          <a:xfrm>
            <a:off x="914400" y="4171950"/>
            <a:ext cx="361950" cy="361950"/>
          </a:xfrm>
          <a:prstGeom prst="ellipse">
            <a:avLst/>
          </a:prstGeom>
          <a:noFill/>
          <a:ln w="0">
            <a:noFill/>
            <a:prstDash val="solid"/>
          </a:ln>
        </p:spPr>
        <p:txBody>
          <a:bodyPr/>
          <a:lstStyle/>
          <a:p>
            <a:endParaRPr/>
          </a:p>
        </p:txBody>
      </p:sp>
      <p:sp>
        <p:nvSpPr>
          <p:cNvPr id="22" name="text">
            <a:extLst>
              <a:ext uri="{FF2B5EF4-FFF2-40B4-BE49-F238E27FC236}">
                <a16:creationId xmlns:a16="http://schemas.microsoft.com/office/drawing/2014/main" id="{FB4F7366-AD2A-42F3-83A4-16CCAE99B300}"/>
              </a:ext>
            </a:extLst>
          </p:cNvPr>
          <p:cNvSpPr>
            <a:spLocks noGrp="1"/>
          </p:cNvSpPr>
          <p:nvPr/>
        </p:nvSpPr>
        <p:spPr>
          <a:xfrm>
            <a:off x="9144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noFill/>
          <a:ln w="0">
            <a:noFill/>
            <a:prstDash val="solid"/>
          </a:ln>
        </p:spPr>
        <p:txBody>
          <a:bodyPr/>
          <a:lstStyle/>
          <a:p>
            <a:endParaRPr/>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Add or edit entries</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noFill/>
          <a:ln w="0">
            <a:noFill/>
            <a:prstDash val="solid"/>
          </a:ln>
        </p:spPr>
        <p:txBody>
          <a:bodyPr/>
          <a:lstStyle/>
          <a:p>
            <a:endParaRPr/>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581025" y="4695825"/>
            <a:ext cx="3238500" cy="952500"/>
          </a:xfrm>
          <a:prstGeom prst="rect">
            <a:avLst/>
          </a:prstGeom>
          <a:noFill/>
          <a:ln w="0">
            <a:noFill/>
            <a:prstDash val="solid"/>
          </a:ln>
        </p:spPr>
        <p:txBody>
          <a:bodyPr/>
          <a:lstStyle/>
          <a:p>
            <a:pPr algn="ctr">
              <a:buNone/>
              <a:defRPr sz="1350" b="1">
                <a:solidFill>
                  <a:srgbClr val="003223"/>
                </a:solidFill>
              </a:defRPr>
            </a:pPr>
            <a:r>
              <a:rPr sz="1350" b="1" dirty="0">
                <a:solidFill>
                  <a:srgbClr val="003223"/>
                </a:solidFill>
              </a:rPr>
              <a:t>Choose the stage that best describes where the waste was generated.</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5" name="图片 94"/>
          <p:cNvPicPr>
            <a:picLocks noChangeAspect="1"/>
          </p:cNvPicPr>
          <p:nvPr/>
        </p:nvPicPr>
        <p:blipFill>
          <a:blip r:embed="rId3"/>
          <a:srcRect l="61" r="61"/>
          <a:stretch>
            <a:fillRect/>
          </a:stretch>
        </p:blipFill>
        <p:spPr>
          <a:xfrm>
            <a:off x="4572000" y="2381250"/>
            <a:ext cx="346710" cy="3905250"/>
          </a:xfrm>
          <a:prstGeom prst="rect">
            <a:avLst/>
          </a:prstGeom>
        </p:spPr>
      </p:pic>
      <p:pic>
        <p:nvPicPr>
          <p:cNvPr id="96" name="图片 95"/>
          <p:cNvPicPr>
            <a:picLocks noChangeAspect="1"/>
          </p:cNvPicPr>
          <p:nvPr/>
        </p:nvPicPr>
        <p:blipFill>
          <a:blip r:embed="rId4"/>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5"/>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6"/>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7"/>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8"/>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9"/>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10"/>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11"/>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2"/>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3"/>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4"/>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5"/>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6"/>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7"/>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8"/>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9"/>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20"/>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21"/>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22"/>
          <a:srcRect l="61" r="61"/>
          <a:stretch>
            <a:fillRect/>
          </a:stretch>
        </p:blipFill>
        <p:spPr>
          <a:xfrm>
            <a:off x="11159490" y="2381250"/>
            <a:ext cx="346710" cy="3905250"/>
          </a:xfrm>
          <a:prstGeom prst="rect">
            <a:avLst/>
          </a:prstGeom>
        </p:spPr>
      </p:pic>
    </p:spTree>
    <p:extLst>
      <p:ext uri="{BB962C8B-B14F-4D97-AF65-F5344CB8AC3E}">
        <p14:creationId xmlns:p14="http://schemas.microsoft.com/office/powerpoint/2010/main" val="447011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journey-1">
            <a:extLst>
              <a:ext uri="{FF2B5EF4-FFF2-40B4-BE49-F238E27FC236}">
                <a16:creationId xmlns:a16="http://schemas.microsoft.com/office/drawing/2014/main" id="{F1588954-7C9B-C888-1D77-81BA3E29A494}"/>
              </a:ext>
            </a:extLst>
          </p:cNvPr>
          <p:cNvSpPr>
            <a:spLocks noGrp="1"/>
          </p:cNvSpPr>
          <p:nvPr/>
        </p:nvSpPr>
        <p:spPr>
          <a:xfrm>
            <a:off x="685800" y="2516011"/>
            <a:ext cx="3238500" cy="1257300"/>
          </a:xfrm>
          <a:prstGeom prst="roundRect">
            <a:avLst>
              <a:gd name="adj" fmla="val 19697"/>
            </a:avLst>
          </a:prstGeom>
          <a:solidFill>
            <a:srgbClr val="FFD76E"/>
          </a:solidFill>
          <a:ln w="7620">
            <a:solidFill>
              <a:srgbClr val="C8D7D1"/>
            </a:solidFill>
            <a:prstDash val="solid"/>
          </a:ln>
        </p:spPr>
        <p:style>
          <a:lnRef idx="0">
            <a:scrgbClr r="0" g="0" b="0"/>
          </a:lnRef>
          <a:fillRef idx="0">
            <a:scrgbClr r="0" g="0" b="0"/>
          </a:fillRef>
          <a:effectRef idx="4">
            <a:scrgbClr r="0" g="0" b="0"/>
          </a:effectRef>
          <a:fontRef idx="major"/>
        </p:style>
        <p:txBody>
          <a:bodyPr/>
          <a:lstStyle/>
          <a:p>
            <a:endParaRPr dirty="0"/>
          </a:p>
        </p:txBody>
      </p:sp>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07</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2 — Select the food type</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WHAT TYPE OF FOOD WASTE ARE YOU MEASURING?</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6858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6" name="椭圆 5">
            <a:extLst>
              <a:ext uri="{FF2B5EF4-FFF2-40B4-BE49-F238E27FC236}">
                <a16:creationId xmlns:a16="http://schemas.microsoft.com/office/drawing/2014/main" id="{257C5723-5E6B-4D8E-8882-7D6B887F2526}"/>
              </a:ext>
            </a:extLst>
          </p:cNvPr>
          <p:cNvSpPr>
            <a:spLocks noGrp="1"/>
          </p:cNvSpPr>
          <p:nvPr/>
        </p:nvSpPr>
        <p:spPr>
          <a:xfrm>
            <a:off x="914400" y="2609850"/>
            <a:ext cx="361950" cy="361950"/>
          </a:xfrm>
          <a:prstGeom prst="ellipse">
            <a:avLst/>
          </a:prstGeom>
          <a:noFill/>
          <a:ln w="0">
            <a:noFill/>
            <a:prstDash val="solid"/>
          </a:ln>
        </p:spPr>
        <p:txBody>
          <a:bodyPr/>
          <a:lstStyle/>
          <a:p>
            <a:endParaRPr/>
          </a:p>
        </p:txBody>
      </p:sp>
      <p:sp>
        <p:nvSpPr>
          <p:cNvPr id="9" name="text">
            <a:extLst>
              <a:ext uri="{FF2B5EF4-FFF2-40B4-BE49-F238E27FC236}">
                <a16:creationId xmlns:a16="http://schemas.microsoft.com/office/drawing/2014/main" id="{1862BD4F-5C8B-48B6-B88C-15DC9EE2C28C}"/>
              </a:ext>
            </a:extLst>
          </p:cNvPr>
          <p:cNvSpPr>
            <a:spLocks noGrp="1"/>
          </p:cNvSpPr>
          <p:nvPr/>
        </p:nvSpPr>
        <p:spPr>
          <a:xfrm>
            <a:off x="14668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Supply-chain stage</a:t>
            </a: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914400" y="2910417"/>
            <a:ext cx="361950" cy="361950"/>
          </a:xfrm>
          <a:prstGeom prst="ellipse">
            <a:avLst/>
          </a:prstGeom>
          <a:solidFill>
            <a:srgbClr val="003223"/>
          </a:solid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914400" y="29718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1466850" y="2819400"/>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1466850" y="3219450"/>
            <a:ext cx="2095500" cy="3429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noFill/>
          <a:ln w="0">
            <a:noFill/>
            <a:prstDash val="solid"/>
          </a:ln>
        </p:spPr>
        <p:txBody>
          <a:bodyPr/>
          <a:lstStyle/>
          <a:p>
            <a:endParaRPr/>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6858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1" name="椭圆 20">
            <a:extLst>
              <a:ext uri="{FF2B5EF4-FFF2-40B4-BE49-F238E27FC236}">
                <a16:creationId xmlns:a16="http://schemas.microsoft.com/office/drawing/2014/main" id="{736FEECD-0249-4C96-A499-956F33759E98}"/>
              </a:ext>
            </a:extLst>
          </p:cNvPr>
          <p:cNvSpPr>
            <a:spLocks noGrp="1"/>
          </p:cNvSpPr>
          <p:nvPr/>
        </p:nvSpPr>
        <p:spPr>
          <a:xfrm>
            <a:off x="914400" y="4171950"/>
            <a:ext cx="361950" cy="361950"/>
          </a:xfrm>
          <a:prstGeom prst="ellipse">
            <a:avLst/>
          </a:prstGeom>
          <a:noFill/>
          <a:ln w="0">
            <a:noFill/>
            <a:prstDash val="solid"/>
          </a:ln>
        </p:spPr>
        <p:txBody>
          <a:bodyPr/>
          <a:lstStyle/>
          <a:p>
            <a:endParaRPr/>
          </a:p>
        </p:txBody>
      </p:sp>
      <p:sp>
        <p:nvSpPr>
          <p:cNvPr id="22" name="text">
            <a:extLst>
              <a:ext uri="{FF2B5EF4-FFF2-40B4-BE49-F238E27FC236}">
                <a16:creationId xmlns:a16="http://schemas.microsoft.com/office/drawing/2014/main" id="{FB4F7366-AD2A-42F3-83A4-16CCAE99B300}"/>
              </a:ext>
            </a:extLst>
          </p:cNvPr>
          <p:cNvSpPr>
            <a:spLocks noGrp="1"/>
          </p:cNvSpPr>
          <p:nvPr/>
        </p:nvSpPr>
        <p:spPr>
          <a:xfrm>
            <a:off x="9144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noFill/>
          <a:ln w="0">
            <a:noFill/>
            <a:prstDash val="solid"/>
          </a:ln>
        </p:spPr>
        <p:txBody>
          <a:bodyPr/>
          <a:lstStyle/>
          <a:p>
            <a:endParaRPr/>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Add or edit entries</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noFill/>
          <a:ln w="0">
            <a:noFill/>
            <a:prstDash val="solid"/>
          </a:ln>
        </p:spPr>
        <p:txBody>
          <a:bodyPr/>
          <a:lstStyle/>
          <a:p>
            <a:endParaRPr/>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685800" y="4724400"/>
            <a:ext cx="3238500" cy="952500"/>
          </a:xfrm>
          <a:prstGeom prst="rect">
            <a:avLst/>
          </a:prstGeom>
          <a:noFill/>
          <a:ln w="0">
            <a:noFill/>
            <a:prstDash val="solid"/>
          </a:ln>
        </p:spPr>
        <p:txBody>
          <a:bodyPr/>
          <a:lstStyle/>
          <a:p>
            <a:pPr algn="ctr">
              <a:buNone/>
              <a:defRPr sz="1350" b="1">
                <a:solidFill>
                  <a:srgbClr val="003223"/>
                </a:solidFill>
              </a:defRPr>
            </a:pPr>
            <a:r>
              <a:rPr sz="1350" b="1" dirty="0">
                <a:solidFill>
                  <a:srgbClr val="003223"/>
                </a:solidFill>
              </a:rPr>
              <a:t>Select a category if it is known, or use the general food-waste option.</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5" name="图片 94"/>
          <p:cNvPicPr>
            <a:picLocks noChangeAspect="1"/>
          </p:cNvPicPr>
          <p:nvPr/>
        </p:nvPicPr>
        <p:blipFill>
          <a:blip r:embed="rId3"/>
          <a:srcRect l="61" r="61"/>
          <a:stretch>
            <a:fillRect/>
          </a:stretch>
        </p:blipFill>
        <p:spPr>
          <a:xfrm>
            <a:off x="4572000" y="2381250"/>
            <a:ext cx="346710" cy="3905250"/>
          </a:xfrm>
          <a:prstGeom prst="rect">
            <a:avLst/>
          </a:prstGeom>
        </p:spPr>
      </p:pic>
      <p:pic>
        <p:nvPicPr>
          <p:cNvPr id="96" name="图片 95"/>
          <p:cNvPicPr>
            <a:picLocks noChangeAspect="1"/>
          </p:cNvPicPr>
          <p:nvPr/>
        </p:nvPicPr>
        <p:blipFill>
          <a:blip r:embed="rId3"/>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3"/>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4"/>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5"/>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6"/>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7"/>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8"/>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9"/>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0"/>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1"/>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2"/>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3"/>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4"/>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5"/>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5"/>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6"/>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3"/>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3"/>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17"/>
          <a:srcRect l="61" r="61"/>
          <a:stretch>
            <a:fillRect/>
          </a:stretch>
        </p:blipFill>
        <p:spPr>
          <a:xfrm>
            <a:off x="11159490" y="2381250"/>
            <a:ext cx="346710" cy="3905250"/>
          </a:xfrm>
          <a:prstGeom prst="rect">
            <a:avLst/>
          </a:prstGeom>
        </p:spPr>
      </p:pic>
    </p:spTree>
    <p:extLst>
      <p:ext uri="{BB962C8B-B14F-4D97-AF65-F5344CB8AC3E}">
        <p14:creationId xmlns:p14="http://schemas.microsoft.com/office/powerpoint/2010/main" val="44701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08</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3 — Enter the waste amount</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HOW MUCH FOOD WASTE ARE YOU MEASURING?</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685800" y="2236258"/>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no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6858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noFill/>
          <a:ln w="0">
            <a:noFill/>
            <a:prstDash val="solid"/>
          </a:ln>
        </p:spPr>
        <p:txBody>
          <a:bodyPr/>
          <a:lstStyle/>
          <a:p>
            <a:endParaRPr/>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Add or edit entries</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noFill/>
          <a:ln w="0">
            <a:noFill/>
            <a:prstDash val="solid"/>
          </a:ln>
        </p:spPr>
        <p:txBody>
          <a:bodyPr/>
          <a:lstStyle/>
          <a:p>
            <a:endParaRPr/>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685800" y="4476750"/>
            <a:ext cx="3238500" cy="952500"/>
          </a:xfrm>
          <a:prstGeom prst="rect">
            <a:avLst/>
          </a:prstGeom>
          <a:noFill/>
          <a:ln w="0">
            <a:noFill/>
            <a:prstDash val="solid"/>
          </a:ln>
        </p:spPr>
        <p:txBody>
          <a:bodyPr/>
          <a:lstStyle/>
          <a:p>
            <a:pPr algn="ctr">
              <a:buNone/>
              <a:defRPr sz="1350" b="1">
                <a:solidFill>
                  <a:srgbClr val="003223"/>
                </a:solidFill>
              </a:defRPr>
            </a:pPr>
            <a:r>
              <a:rPr sz="1350" b="1" dirty="0">
                <a:solidFill>
                  <a:srgbClr val="003223"/>
                </a:solidFill>
              </a:rPr>
              <a:t>Enter the measured total and choose kilograms or </a:t>
            </a:r>
            <a:r>
              <a:rPr sz="1350" b="1" dirty="0" err="1">
                <a:solidFill>
                  <a:srgbClr val="003223"/>
                </a:solidFill>
              </a:rPr>
              <a:t>tonnes</a:t>
            </a:r>
            <a:r>
              <a:rPr sz="1350" b="1" dirty="0">
                <a:solidFill>
                  <a:srgbClr val="003223"/>
                </a:solidFill>
              </a:rPr>
              <a:t>.</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6" name="图片 95"/>
          <p:cNvPicPr>
            <a:picLocks noChangeAspect="1"/>
          </p:cNvPicPr>
          <p:nvPr/>
        </p:nvPicPr>
        <p:blipFill>
          <a:blip r:embed="rId3"/>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4"/>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5"/>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6"/>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7"/>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8"/>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9"/>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10"/>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1"/>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2"/>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3"/>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4"/>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5"/>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6"/>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7"/>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8"/>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19"/>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20"/>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21"/>
          <a:srcRect l="61" r="61"/>
          <a:stretch>
            <a:fillRect/>
          </a:stretch>
        </p:blipFill>
        <p:spPr>
          <a:xfrm>
            <a:off x="11159490" y="2381250"/>
            <a:ext cx="346710" cy="3905250"/>
          </a:xfrm>
          <a:prstGeom prst="rect">
            <a:avLst/>
          </a:prstGeom>
        </p:spPr>
      </p:pic>
      <p:sp>
        <p:nvSpPr>
          <p:cNvPr id="37" name="journey-2">
            <a:extLst>
              <a:ext uri="{FF2B5EF4-FFF2-40B4-BE49-F238E27FC236}">
                <a16:creationId xmlns:a16="http://schemas.microsoft.com/office/drawing/2014/main" id="{65C60FF0-73CB-926B-0E1B-350A802339F9}"/>
              </a:ext>
            </a:extLst>
          </p:cNvPr>
          <p:cNvSpPr>
            <a:spLocks noGrp="1"/>
          </p:cNvSpPr>
          <p:nvPr/>
        </p:nvSpPr>
        <p:spPr>
          <a:xfrm>
            <a:off x="685800" y="2522008"/>
            <a:ext cx="3238500" cy="1257300"/>
          </a:xfrm>
          <a:prstGeom prst="roundRect">
            <a:avLst>
              <a:gd name="adj" fmla="val 19697"/>
            </a:avLst>
          </a:prstGeom>
          <a:solidFill>
            <a:srgbClr val="E6BEFF"/>
          </a:solidFill>
          <a:ln w="7620">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39" name="椭圆 38">
            <a:extLst>
              <a:ext uri="{FF2B5EF4-FFF2-40B4-BE49-F238E27FC236}">
                <a16:creationId xmlns:a16="http://schemas.microsoft.com/office/drawing/2014/main" id="{87473919-E962-9C13-D567-98A79E8116D2}"/>
              </a:ext>
            </a:extLst>
          </p:cNvPr>
          <p:cNvSpPr>
            <a:spLocks noGrp="1"/>
          </p:cNvSpPr>
          <p:nvPr/>
        </p:nvSpPr>
        <p:spPr>
          <a:xfrm>
            <a:off x="914400" y="2798233"/>
            <a:ext cx="361950" cy="361950"/>
          </a:xfrm>
          <a:prstGeom prst="ellipse">
            <a:avLst/>
          </a:prstGeom>
          <a:solidFill>
            <a:srgbClr val="003223"/>
          </a:solidFill>
          <a:ln w="0">
            <a:noFill/>
            <a:prstDash val="solid"/>
          </a:ln>
        </p:spPr>
        <p:txBody>
          <a:bodyPr/>
          <a:lstStyle/>
          <a:p>
            <a:endParaRPr/>
          </a:p>
        </p:txBody>
      </p:sp>
      <p:sp>
        <p:nvSpPr>
          <p:cNvPr id="40" name="text">
            <a:extLst>
              <a:ext uri="{FF2B5EF4-FFF2-40B4-BE49-F238E27FC236}">
                <a16:creationId xmlns:a16="http://schemas.microsoft.com/office/drawing/2014/main" id="{9751495C-9F6D-F47E-2F4D-D80F3DD2EF8E}"/>
              </a:ext>
            </a:extLst>
          </p:cNvPr>
          <p:cNvSpPr>
            <a:spLocks noGrp="1"/>
          </p:cNvSpPr>
          <p:nvPr/>
        </p:nvSpPr>
        <p:spPr>
          <a:xfrm>
            <a:off x="914400" y="2845858"/>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41" name="text">
            <a:extLst>
              <a:ext uri="{FF2B5EF4-FFF2-40B4-BE49-F238E27FC236}">
                <a16:creationId xmlns:a16="http://schemas.microsoft.com/office/drawing/2014/main" id="{D3257763-C57D-FD56-BC72-417528FF6619}"/>
              </a:ext>
            </a:extLst>
          </p:cNvPr>
          <p:cNvSpPr>
            <a:spLocks noGrp="1"/>
          </p:cNvSpPr>
          <p:nvPr/>
        </p:nvSpPr>
        <p:spPr>
          <a:xfrm>
            <a:off x="1466850" y="2760133"/>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42" name="text">
            <a:extLst>
              <a:ext uri="{FF2B5EF4-FFF2-40B4-BE49-F238E27FC236}">
                <a16:creationId xmlns:a16="http://schemas.microsoft.com/office/drawing/2014/main" id="{5A88999A-1B05-7B98-5F9A-6E0434047FD1}"/>
              </a:ext>
            </a:extLst>
          </p:cNvPr>
          <p:cNvSpPr>
            <a:spLocks noGrp="1"/>
          </p:cNvSpPr>
          <p:nvPr/>
        </p:nvSpPr>
        <p:spPr>
          <a:xfrm>
            <a:off x="1466850" y="3160183"/>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Tree>
    <p:extLst>
      <p:ext uri="{BB962C8B-B14F-4D97-AF65-F5344CB8AC3E}">
        <p14:creationId xmlns:p14="http://schemas.microsoft.com/office/powerpoint/2010/main" val="44701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09</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4 — Allocate the destinations</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WHERE DID THE FOOD WASTE GO?</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6858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no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noFill/>
          <a:ln w="0">
            <a:noFill/>
            <a:prstDash val="solid"/>
          </a:ln>
        </p:spPr>
        <p:txBody>
          <a:bodyPr/>
          <a:lstStyle/>
          <a:p>
            <a:endParaRPr/>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noFill/>
          <a:ln w="0">
            <a:noFill/>
            <a:prstDash val="solid"/>
          </a:ln>
        </p:spPr>
        <p:txBody>
          <a:bodyPr/>
          <a:lstStyle/>
          <a:p>
            <a:endParaRPr/>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Add or edit entries</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noFill/>
          <a:ln w="0">
            <a:noFill/>
            <a:prstDash val="solid"/>
          </a:ln>
        </p:spPr>
        <p:txBody>
          <a:bodyPr/>
          <a:lstStyle/>
          <a:p>
            <a:endParaRPr/>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685800" y="4476750"/>
            <a:ext cx="3238500" cy="952500"/>
          </a:xfrm>
          <a:prstGeom prst="rect">
            <a:avLst/>
          </a:prstGeom>
          <a:noFill/>
          <a:ln w="0">
            <a:noFill/>
            <a:prstDash val="solid"/>
          </a:ln>
        </p:spPr>
        <p:txBody>
          <a:bodyPr/>
          <a:lstStyle/>
          <a:p>
            <a:pPr algn="ctr">
              <a:buNone/>
              <a:defRPr sz="1350" b="1">
                <a:solidFill>
                  <a:srgbClr val="003223"/>
                </a:solidFill>
              </a:defRPr>
            </a:pPr>
            <a:r>
              <a:rPr sz="1350" b="1">
                <a:solidFill>
                  <a:srgbClr val="003223"/>
                </a:solidFill>
              </a:rPr>
              <a:t>Allocate the total across landfill, composting and other destinations.</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5" name="图片 94"/>
          <p:cNvPicPr>
            <a:picLocks noChangeAspect="1"/>
          </p:cNvPicPr>
          <p:nvPr/>
        </p:nvPicPr>
        <p:blipFill>
          <a:blip r:embed="rId3"/>
          <a:srcRect l="61" r="61"/>
          <a:stretch>
            <a:fillRect/>
          </a:stretch>
        </p:blipFill>
        <p:spPr>
          <a:xfrm>
            <a:off x="4572000" y="2381250"/>
            <a:ext cx="346710" cy="3905250"/>
          </a:xfrm>
          <a:prstGeom prst="rect">
            <a:avLst/>
          </a:prstGeom>
        </p:spPr>
      </p:pic>
      <p:pic>
        <p:nvPicPr>
          <p:cNvPr id="96" name="图片 95"/>
          <p:cNvPicPr>
            <a:picLocks noChangeAspect="1"/>
          </p:cNvPicPr>
          <p:nvPr/>
        </p:nvPicPr>
        <p:blipFill>
          <a:blip r:embed="rId4"/>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5"/>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6"/>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7"/>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8"/>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9"/>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10"/>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11"/>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2"/>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3"/>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4"/>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5"/>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6"/>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7"/>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8"/>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9"/>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20"/>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21"/>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22"/>
          <a:srcRect l="61" r="61"/>
          <a:stretch>
            <a:fillRect/>
          </a:stretch>
        </p:blipFill>
        <p:spPr>
          <a:xfrm>
            <a:off x="11159490" y="2381250"/>
            <a:ext cx="346710" cy="3905250"/>
          </a:xfrm>
          <a:prstGeom prst="rect">
            <a:avLst/>
          </a:prstGeom>
        </p:spPr>
      </p:pic>
      <p:sp>
        <p:nvSpPr>
          <p:cNvPr id="37" name="journey-3">
            <a:extLst>
              <a:ext uri="{FF2B5EF4-FFF2-40B4-BE49-F238E27FC236}">
                <a16:creationId xmlns:a16="http://schemas.microsoft.com/office/drawing/2014/main" id="{3A490D98-26BB-32C9-9A38-BE7E86AEEDB3}"/>
              </a:ext>
            </a:extLst>
          </p:cNvPr>
          <p:cNvSpPr>
            <a:spLocks noGrp="1"/>
          </p:cNvSpPr>
          <p:nvPr/>
        </p:nvSpPr>
        <p:spPr>
          <a:xfrm>
            <a:off x="678180" y="2552700"/>
            <a:ext cx="3238500" cy="1257300"/>
          </a:xfrm>
          <a:prstGeom prst="roundRect">
            <a:avLst>
              <a:gd name="adj" fmla="val 19697"/>
            </a:avLst>
          </a:prstGeom>
          <a:solidFill>
            <a:srgbClr val="DDEBFF"/>
          </a:solidFill>
          <a:ln w="7620">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39" name="椭圆 38">
            <a:extLst>
              <a:ext uri="{FF2B5EF4-FFF2-40B4-BE49-F238E27FC236}">
                <a16:creationId xmlns:a16="http://schemas.microsoft.com/office/drawing/2014/main" id="{1D148234-14E3-4C91-EC52-6627D926B00F}"/>
              </a:ext>
            </a:extLst>
          </p:cNvPr>
          <p:cNvSpPr>
            <a:spLocks noGrp="1"/>
          </p:cNvSpPr>
          <p:nvPr/>
        </p:nvSpPr>
        <p:spPr>
          <a:xfrm>
            <a:off x="906780" y="2819400"/>
            <a:ext cx="361950" cy="361950"/>
          </a:xfrm>
          <a:prstGeom prst="ellipse">
            <a:avLst/>
          </a:prstGeom>
          <a:solidFill>
            <a:srgbClr val="003223"/>
          </a:solidFill>
          <a:ln w="0">
            <a:noFill/>
            <a:prstDash val="solid"/>
          </a:ln>
        </p:spPr>
        <p:txBody>
          <a:bodyPr/>
          <a:lstStyle/>
          <a:p>
            <a:endParaRPr/>
          </a:p>
        </p:txBody>
      </p:sp>
      <p:sp>
        <p:nvSpPr>
          <p:cNvPr id="40" name="text">
            <a:extLst>
              <a:ext uri="{FF2B5EF4-FFF2-40B4-BE49-F238E27FC236}">
                <a16:creationId xmlns:a16="http://schemas.microsoft.com/office/drawing/2014/main" id="{8E8789D4-3A72-1B4C-E567-11959680EA41}"/>
              </a:ext>
            </a:extLst>
          </p:cNvPr>
          <p:cNvSpPr>
            <a:spLocks noGrp="1"/>
          </p:cNvSpPr>
          <p:nvPr/>
        </p:nvSpPr>
        <p:spPr>
          <a:xfrm>
            <a:off x="906780" y="287655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41" name="text">
            <a:extLst>
              <a:ext uri="{FF2B5EF4-FFF2-40B4-BE49-F238E27FC236}">
                <a16:creationId xmlns:a16="http://schemas.microsoft.com/office/drawing/2014/main" id="{B827C8E7-534D-4BC7-7420-5DE084885982}"/>
              </a:ext>
            </a:extLst>
          </p:cNvPr>
          <p:cNvSpPr>
            <a:spLocks noGrp="1"/>
          </p:cNvSpPr>
          <p:nvPr/>
        </p:nvSpPr>
        <p:spPr>
          <a:xfrm>
            <a:off x="1459230" y="279082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Where to</a:t>
            </a:r>
          </a:p>
        </p:txBody>
      </p:sp>
      <p:sp>
        <p:nvSpPr>
          <p:cNvPr id="42" name="text">
            <a:extLst>
              <a:ext uri="{FF2B5EF4-FFF2-40B4-BE49-F238E27FC236}">
                <a16:creationId xmlns:a16="http://schemas.microsoft.com/office/drawing/2014/main" id="{2A4B65E1-CFE0-500B-680F-7B784DE85B33}"/>
              </a:ext>
            </a:extLst>
          </p:cNvPr>
          <p:cNvSpPr>
            <a:spLocks noGrp="1"/>
          </p:cNvSpPr>
          <p:nvPr/>
        </p:nvSpPr>
        <p:spPr>
          <a:xfrm>
            <a:off x="1459230" y="319087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Waste destination</a:t>
            </a:r>
          </a:p>
        </p:txBody>
      </p:sp>
    </p:spTree>
    <p:extLst>
      <p:ext uri="{BB962C8B-B14F-4D97-AF65-F5344CB8AC3E}">
        <p14:creationId xmlns:p14="http://schemas.microsoft.com/office/powerpoint/2010/main" val="447011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10</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5 — Review the information</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CHECK EVERY ENTRY BEFORE CALCULATING</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695325" y="251460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no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noFill/>
          <a:ln w="0">
            <a:noFill/>
            <a:prstDash val="solid"/>
          </a:ln>
        </p:spPr>
        <p:txBody>
          <a:bodyPr/>
          <a:lstStyle/>
          <a:p>
            <a:endParaRPr/>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6858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1" name="椭圆 20">
            <a:extLst>
              <a:ext uri="{FF2B5EF4-FFF2-40B4-BE49-F238E27FC236}">
                <a16:creationId xmlns:a16="http://schemas.microsoft.com/office/drawing/2014/main" id="{736FEECD-0249-4C96-A499-956F33759E98}"/>
              </a:ext>
            </a:extLst>
          </p:cNvPr>
          <p:cNvSpPr>
            <a:spLocks noGrp="1"/>
          </p:cNvSpPr>
          <p:nvPr/>
        </p:nvSpPr>
        <p:spPr>
          <a:xfrm>
            <a:off x="914400" y="4171950"/>
            <a:ext cx="361950" cy="361950"/>
          </a:xfrm>
          <a:prstGeom prst="ellipse">
            <a:avLst/>
          </a:prstGeom>
          <a:noFill/>
          <a:ln w="0">
            <a:noFill/>
            <a:prstDash val="solid"/>
          </a:ln>
        </p:spPr>
        <p:txBody>
          <a:bodyPr/>
          <a:lstStyle/>
          <a:p>
            <a:endParaRPr/>
          </a:p>
        </p:txBody>
      </p:sp>
      <p:sp>
        <p:nvSpPr>
          <p:cNvPr id="22" name="text">
            <a:extLst>
              <a:ext uri="{FF2B5EF4-FFF2-40B4-BE49-F238E27FC236}">
                <a16:creationId xmlns:a16="http://schemas.microsoft.com/office/drawing/2014/main" id="{FB4F7366-AD2A-42F3-83A4-16CCAE99B300}"/>
              </a:ext>
            </a:extLst>
          </p:cNvPr>
          <p:cNvSpPr>
            <a:spLocks noGrp="1"/>
          </p:cNvSpPr>
          <p:nvPr/>
        </p:nvSpPr>
        <p:spPr>
          <a:xfrm>
            <a:off x="9144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30" name="journey-5">
            <a:extLst>
              <a:ext uri="{FF2B5EF4-FFF2-40B4-BE49-F238E27FC236}">
                <a16:creationId xmlns:a16="http://schemas.microsoft.com/office/drawing/2014/main" id="{25F8D474-3BC9-40B5-93BD-BBBD45CA9FE1}"/>
              </a:ext>
            </a:extLst>
          </p:cNvPr>
          <p:cNvSpPr>
            <a:spLocks noGrp="1"/>
          </p:cNvSpPr>
          <p:nvPr/>
        </p:nvSpPr>
        <p:spPr>
          <a:xfrm>
            <a:off x="788670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31" name="椭圆 30">
            <a:extLst>
              <a:ext uri="{FF2B5EF4-FFF2-40B4-BE49-F238E27FC236}">
                <a16:creationId xmlns:a16="http://schemas.microsoft.com/office/drawing/2014/main" id="{119B436E-7F05-4B49-8D64-CA8553A19054}"/>
              </a:ext>
            </a:extLst>
          </p:cNvPr>
          <p:cNvSpPr>
            <a:spLocks noGrp="1"/>
          </p:cNvSpPr>
          <p:nvPr/>
        </p:nvSpPr>
        <p:spPr>
          <a:xfrm>
            <a:off x="8115300" y="4171950"/>
            <a:ext cx="361950" cy="361950"/>
          </a:xfrm>
          <a:prstGeom prst="ellipse">
            <a:avLst/>
          </a:prstGeom>
          <a:noFill/>
          <a:ln w="0">
            <a:noFill/>
            <a:prstDash val="solid"/>
          </a:ln>
        </p:spPr>
        <p:txBody>
          <a:bodyPr/>
          <a:lstStyle/>
          <a:p>
            <a:endParaRPr/>
          </a:p>
        </p:txBody>
      </p:sp>
      <p:sp>
        <p:nvSpPr>
          <p:cNvPr id="32" name="text">
            <a:extLst>
              <a:ext uri="{FF2B5EF4-FFF2-40B4-BE49-F238E27FC236}">
                <a16:creationId xmlns:a16="http://schemas.microsoft.com/office/drawing/2014/main" id="{C26BD344-E7FA-44F0-9427-945040875576}"/>
              </a:ext>
            </a:extLst>
          </p:cNvPr>
          <p:cNvSpPr>
            <a:spLocks noGrp="1"/>
          </p:cNvSpPr>
          <p:nvPr/>
        </p:nvSpPr>
        <p:spPr>
          <a:xfrm>
            <a:off x="811530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33" name="text">
            <a:extLst>
              <a:ext uri="{FF2B5EF4-FFF2-40B4-BE49-F238E27FC236}">
                <a16:creationId xmlns:a16="http://schemas.microsoft.com/office/drawing/2014/main" id="{4DA1A5FE-D157-4151-BE0D-3518C94B8D9C}"/>
              </a:ext>
            </a:extLst>
          </p:cNvPr>
          <p:cNvSpPr>
            <a:spLocks noGrp="1"/>
          </p:cNvSpPr>
          <p:nvPr/>
        </p:nvSpPr>
        <p:spPr>
          <a:xfrm>
            <a:off x="866775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34" name="text">
            <a:extLst>
              <a:ext uri="{FF2B5EF4-FFF2-40B4-BE49-F238E27FC236}">
                <a16:creationId xmlns:a16="http://schemas.microsoft.com/office/drawing/2014/main" id="{61042EE1-CA97-42E9-B5DE-1A7D1221E73F}"/>
              </a:ext>
            </a:extLst>
          </p:cNvPr>
          <p:cNvSpPr>
            <a:spLocks noGrp="1"/>
          </p:cNvSpPr>
          <p:nvPr/>
        </p:nvSpPr>
        <p:spPr>
          <a:xfrm>
            <a:off x="866775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695325" y="4476750"/>
            <a:ext cx="3238500" cy="952500"/>
          </a:xfrm>
          <a:prstGeom prst="rect">
            <a:avLst/>
          </a:prstGeom>
          <a:noFill/>
          <a:ln w="0">
            <a:noFill/>
            <a:prstDash val="solid"/>
          </a:ln>
        </p:spPr>
        <p:txBody>
          <a:bodyPr/>
          <a:lstStyle/>
          <a:p>
            <a:pPr algn="ctr">
              <a:buNone/>
              <a:defRPr sz="1350" b="1">
                <a:solidFill>
                  <a:srgbClr val="003223"/>
                </a:solidFill>
              </a:defRPr>
            </a:pPr>
            <a:r>
              <a:rPr sz="1350" b="1" dirty="0">
                <a:solidFill>
                  <a:srgbClr val="003223"/>
                </a:solidFill>
              </a:rPr>
              <a:t>Review the entry, make edits, or add another supply-chain entry.</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5" name="图片 94"/>
          <p:cNvPicPr>
            <a:picLocks noChangeAspect="1"/>
          </p:cNvPicPr>
          <p:nvPr/>
        </p:nvPicPr>
        <p:blipFill>
          <a:blip r:embed="rId3"/>
          <a:srcRect l="61" r="61"/>
          <a:stretch>
            <a:fillRect/>
          </a:stretch>
        </p:blipFill>
        <p:spPr>
          <a:xfrm>
            <a:off x="4572000" y="2381250"/>
            <a:ext cx="346710" cy="3905250"/>
          </a:xfrm>
          <a:prstGeom prst="rect">
            <a:avLst/>
          </a:prstGeom>
        </p:spPr>
      </p:pic>
      <p:pic>
        <p:nvPicPr>
          <p:cNvPr id="96" name="图片 95"/>
          <p:cNvPicPr>
            <a:picLocks noChangeAspect="1"/>
          </p:cNvPicPr>
          <p:nvPr/>
        </p:nvPicPr>
        <p:blipFill>
          <a:blip r:embed="rId3"/>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4"/>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5"/>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6"/>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7"/>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8"/>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9"/>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10"/>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1"/>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2"/>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3"/>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4"/>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4"/>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4"/>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5"/>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6"/>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17"/>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3"/>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18"/>
          <a:srcRect l="61" r="61"/>
          <a:stretch>
            <a:fillRect/>
          </a:stretch>
        </p:blipFill>
        <p:spPr>
          <a:xfrm>
            <a:off x="11159490" y="2381250"/>
            <a:ext cx="346710" cy="3905250"/>
          </a:xfrm>
          <a:prstGeom prst="rect">
            <a:avLst/>
          </a:prstGeom>
        </p:spPr>
      </p:pic>
      <p:sp>
        <p:nvSpPr>
          <p:cNvPr id="37" name="journey-4">
            <a:extLst>
              <a:ext uri="{FF2B5EF4-FFF2-40B4-BE49-F238E27FC236}">
                <a16:creationId xmlns:a16="http://schemas.microsoft.com/office/drawing/2014/main" id="{B0D442AE-6331-4FAB-A6CD-6C11EBDD93C2}"/>
              </a:ext>
            </a:extLst>
          </p:cNvPr>
          <p:cNvSpPr>
            <a:spLocks noGrp="1"/>
          </p:cNvSpPr>
          <p:nvPr/>
        </p:nvSpPr>
        <p:spPr>
          <a:xfrm>
            <a:off x="760095" y="2524125"/>
            <a:ext cx="3238500" cy="1257300"/>
          </a:xfrm>
          <a:prstGeom prst="roundRect">
            <a:avLst>
              <a:gd name="adj" fmla="val 19697"/>
            </a:avLst>
          </a:prstGeom>
          <a:solidFill>
            <a:srgbClr val="FFFAF0"/>
          </a:solidFill>
          <a:ln w="7620">
            <a:solidFill>
              <a:srgbClr val="C8D7D1"/>
            </a:solidFill>
            <a:prstDash val="solid"/>
          </a:ln>
        </p:spPr>
        <p:style>
          <a:lnRef idx="0">
            <a:scrgbClr r="0" g="0" b="0"/>
          </a:lnRef>
          <a:fillRef idx="0">
            <a:scrgbClr r="0" g="0" b="0"/>
          </a:fillRef>
          <a:effectRef idx="4">
            <a:scrgbClr r="0" g="0" b="0"/>
          </a:effectRef>
          <a:fontRef idx="major"/>
        </p:style>
        <p:txBody>
          <a:bodyPr/>
          <a:lstStyle>
            <a:defPPr>
              <a:defRPr lang="zh-CN"/>
            </a:defPPr>
            <a:lvl1pPr marL="0" algn="l" defTabSz="914400" rtl="0" eaLnBrk="1" latinLnBrk="0" hangingPunct="1">
              <a:defRPr sz="18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j-lt"/>
                <a:ea typeface="+mj-ea"/>
                <a:cs typeface="+mj-cs"/>
              </a:defRPr>
            </a:lvl2pPr>
            <a:lvl3pPr marL="914400" algn="l" defTabSz="914400" rtl="0" eaLnBrk="1" latinLnBrk="0" hangingPunct="1">
              <a:defRPr sz="1800" kern="1200">
                <a:solidFill>
                  <a:schemeClr val="tx1"/>
                </a:solidFill>
                <a:latin typeface="+mj-lt"/>
                <a:ea typeface="+mj-ea"/>
                <a:cs typeface="+mj-cs"/>
              </a:defRPr>
            </a:lvl3pPr>
            <a:lvl4pPr marL="1371600" algn="l" defTabSz="914400" rtl="0" eaLnBrk="1" latinLnBrk="0" hangingPunct="1">
              <a:defRPr sz="1800" kern="1200">
                <a:solidFill>
                  <a:schemeClr val="tx1"/>
                </a:solidFill>
                <a:latin typeface="+mj-lt"/>
                <a:ea typeface="+mj-ea"/>
                <a:cs typeface="+mj-cs"/>
              </a:defRPr>
            </a:lvl4pPr>
            <a:lvl5pPr marL="1828800" algn="l" defTabSz="914400" rtl="0" eaLnBrk="1" latinLnBrk="0" hangingPunct="1">
              <a:defRPr sz="1800" kern="1200">
                <a:solidFill>
                  <a:schemeClr val="tx1"/>
                </a:solidFill>
                <a:latin typeface="+mj-lt"/>
                <a:ea typeface="+mj-ea"/>
                <a:cs typeface="+mj-cs"/>
              </a:defRPr>
            </a:lvl5pPr>
            <a:lvl6pPr marL="2286000" algn="l" defTabSz="914400" rtl="0" eaLnBrk="1" latinLnBrk="0" hangingPunct="1">
              <a:defRPr sz="1800" kern="1200">
                <a:solidFill>
                  <a:schemeClr val="tx1"/>
                </a:solidFill>
                <a:latin typeface="+mj-lt"/>
                <a:ea typeface="+mj-ea"/>
                <a:cs typeface="+mj-cs"/>
              </a:defRPr>
            </a:lvl6pPr>
            <a:lvl7pPr marL="2743200" algn="l" defTabSz="914400" rtl="0" eaLnBrk="1" latinLnBrk="0" hangingPunct="1">
              <a:defRPr sz="1800" kern="1200">
                <a:solidFill>
                  <a:schemeClr val="tx1"/>
                </a:solidFill>
                <a:latin typeface="+mj-lt"/>
                <a:ea typeface="+mj-ea"/>
                <a:cs typeface="+mj-cs"/>
              </a:defRPr>
            </a:lvl7pPr>
            <a:lvl8pPr marL="3200400" algn="l" defTabSz="914400" rtl="0" eaLnBrk="1" latinLnBrk="0" hangingPunct="1">
              <a:defRPr sz="1800" kern="1200">
                <a:solidFill>
                  <a:schemeClr val="tx1"/>
                </a:solidFill>
                <a:latin typeface="+mj-lt"/>
                <a:ea typeface="+mj-ea"/>
                <a:cs typeface="+mj-cs"/>
              </a:defRPr>
            </a:lvl8pPr>
            <a:lvl9pPr marL="3657600" algn="l" defTabSz="914400" rtl="0" eaLnBrk="1" latinLnBrk="0" hangingPunct="1">
              <a:defRPr sz="1800" kern="1200">
                <a:solidFill>
                  <a:schemeClr val="tx1"/>
                </a:solidFill>
                <a:latin typeface="+mj-lt"/>
                <a:ea typeface="+mj-ea"/>
                <a:cs typeface="+mj-cs"/>
              </a:defRPr>
            </a:lvl9pPr>
          </a:lstStyle>
          <a:p>
            <a:endParaRPr/>
          </a:p>
        </p:txBody>
      </p:sp>
      <p:sp>
        <p:nvSpPr>
          <p:cNvPr id="39" name="椭圆 38">
            <a:extLst>
              <a:ext uri="{FF2B5EF4-FFF2-40B4-BE49-F238E27FC236}">
                <a16:creationId xmlns:a16="http://schemas.microsoft.com/office/drawing/2014/main" id="{16798F80-AD01-4B58-AAE5-AE974214AAE0}"/>
              </a:ext>
            </a:extLst>
          </p:cNvPr>
          <p:cNvSpPr>
            <a:spLocks noGrp="1"/>
          </p:cNvSpPr>
          <p:nvPr/>
        </p:nvSpPr>
        <p:spPr>
          <a:xfrm>
            <a:off x="988695" y="2752725"/>
            <a:ext cx="361950" cy="361950"/>
          </a:xfrm>
          <a:prstGeom prst="ellipse">
            <a:avLst/>
          </a:prstGeom>
          <a:solidFill>
            <a:srgbClr val="003223"/>
          </a:solidFill>
          <a:ln w="0">
            <a:noFill/>
            <a:prstDash val="soli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
            <a:extLst>
              <a:ext uri="{FF2B5EF4-FFF2-40B4-BE49-F238E27FC236}">
                <a16:creationId xmlns:a16="http://schemas.microsoft.com/office/drawing/2014/main" id="{5554DF7B-7BDA-4270-B6A6-E3ADD1175DA1}"/>
              </a:ext>
            </a:extLst>
          </p:cNvPr>
          <p:cNvSpPr>
            <a:spLocks noGrp="1"/>
          </p:cNvSpPr>
          <p:nvPr/>
        </p:nvSpPr>
        <p:spPr>
          <a:xfrm>
            <a:off x="988695" y="2847975"/>
            <a:ext cx="361950" cy="171450"/>
          </a:xfrm>
          <a:prstGeom prst="rect">
            <a:avLst/>
          </a:prstGeom>
          <a:noFill/>
          <a:ln w="0">
            <a:noFill/>
            <a:prstDash val="soli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None/>
              <a:defRPr sz="1050" b="1">
                <a:solidFill>
                  <a:srgbClr val="FFFFFF"/>
                </a:solidFill>
              </a:defRPr>
            </a:pPr>
            <a:r>
              <a:rPr sz="1050" b="1">
                <a:solidFill>
                  <a:srgbClr val="FFFFFF"/>
                </a:solidFill>
              </a:rPr>
              <a:t>5</a:t>
            </a:r>
          </a:p>
        </p:txBody>
      </p:sp>
      <p:sp>
        <p:nvSpPr>
          <p:cNvPr id="41" name="text">
            <a:extLst>
              <a:ext uri="{FF2B5EF4-FFF2-40B4-BE49-F238E27FC236}">
                <a16:creationId xmlns:a16="http://schemas.microsoft.com/office/drawing/2014/main" id="{06B4BADC-940B-4260-B4E2-F222B8DA3C25}"/>
              </a:ext>
            </a:extLst>
          </p:cNvPr>
          <p:cNvSpPr>
            <a:spLocks noGrp="1"/>
          </p:cNvSpPr>
          <p:nvPr/>
        </p:nvSpPr>
        <p:spPr>
          <a:xfrm>
            <a:off x="1541145" y="2762250"/>
            <a:ext cx="2095500" cy="285750"/>
          </a:xfrm>
          <a:prstGeom prst="rect">
            <a:avLst/>
          </a:prstGeom>
          <a:noFill/>
          <a:ln w="0">
            <a:noFill/>
            <a:prstDash val="soli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None/>
              <a:defRPr sz="1725" b="1">
                <a:solidFill>
                  <a:srgbClr val="003223"/>
                </a:solidFill>
              </a:defRPr>
            </a:pPr>
            <a:r>
              <a:rPr sz="1725" b="1">
                <a:solidFill>
                  <a:srgbClr val="003223"/>
                </a:solidFill>
              </a:rPr>
              <a:t>Review</a:t>
            </a:r>
          </a:p>
        </p:txBody>
      </p:sp>
      <p:sp>
        <p:nvSpPr>
          <p:cNvPr id="42" name="text">
            <a:extLst>
              <a:ext uri="{FF2B5EF4-FFF2-40B4-BE49-F238E27FC236}">
                <a16:creationId xmlns:a16="http://schemas.microsoft.com/office/drawing/2014/main" id="{2092CC69-C0C5-4911-9877-9A0ECA3ED78D}"/>
              </a:ext>
            </a:extLst>
          </p:cNvPr>
          <p:cNvSpPr>
            <a:spLocks noGrp="1"/>
          </p:cNvSpPr>
          <p:nvPr/>
        </p:nvSpPr>
        <p:spPr>
          <a:xfrm>
            <a:off x="1541145" y="3162300"/>
            <a:ext cx="2095500" cy="285750"/>
          </a:xfrm>
          <a:prstGeom prst="rect">
            <a:avLst/>
          </a:prstGeom>
          <a:noFill/>
          <a:ln w="0">
            <a:noFill/>
            <a:prstDash val="soli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None/>
              <a:defRPr sz="1275" b="0">
                <a:solidFill>
                  <a:srgbClr val="465F56"/>
                </a:solidFill>
              </a:defRPr>
            </a:pPr>
            <a:r>
              <a:rPr sz="1275" b="0">
                <a:solidFill>
                  <a:srgbClr val="465F56"/>
                </a:solidFill>
              </a:rPr>
              <a:t>Add or edit entries</a:t>
            </a:r>
          </a:p>
        </p:txBody>
      </p:sp>
    </p:spTree>
    <p:extLst>
      <p:ext uri="{BB962C8B-B14F-4D97-AF65-F5344CB8AC3E}">
        <p14:creationId xmlns:p14="http://schemas.microsoft.com/office/powerpoint/2010/main" val="44701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11</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Step 6 — Understand the results</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TURN WASTE DATA INTO CLEAR IMPACT</a:t>
            </a:r>
          </a:p>
        </p:txBody>
      </p:sp>
      <p:sp>
        <p:nvSpPr>
          <p:cNvPr id="5" name="journey-0">
            <a:extLst>
              <a:ext uri="{FF2B5EF4-FFF2-40B4-BE49-F238E27FC236}">
                <a16:creationId xmlns:a16="http://schemas.microsoft.com/office/drawing/2014/main" id="{50E0F005-AECA-417F-8909-EFD9AF1A71F4}"/>
              </a:ext>
            </a:extLst>
          </p:cNvPr>
          <p:cNvSpPr>
            <a:spLocks noGrp="1"/>
          </p:cNvSpPr>
          <p:nvPr/>
        </p:nvSpPr>
        <p:spPr>
          <a:xfrm>
            <a:off x="729615"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0" name="journey-1">
            <a:extLst>
              <a:ext uri="{FF2B5EF4-FFF2-40B4-BE49-F238E27FC236}">
                <a16:creationId xmlns:a16="http://schemas.microsoft.com/office/drawing/2014/main" id="{2ED3EB28-4C3C-4A24-A9DB-701DB0F6099B}"/>
              </a:ext>
            </a:extLst>
          </p:cNvPr>
          <p:cNvSpPr>
            <a:spLocks noGrp="1"/>
          </p:cNvSpPr>
          <p:nvPr/>
        </p:nvSpPr>
        <p:spPr>
          <a:xfrm>
            <a:off x="428625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D0806C34-E99E-4D37-B9C7-5B8D3D16A75E}"/>
              </a:ext>
            </a:extLst>
          </p:cNvPr>
          <p:cNvSpPr>
            <a:spLocks noGrp="1"/>
          </p:cNvSpPr>
          <p:nvPr/>
        </p:nvSpPr>
        <p:spPr>
          <a:xfrm>
            <a:off x="4514850" y="2609850"/>
            <a:ext cx="361950" cy="361950"/>
          </a:xfrm>
          <a:prstGeom prst="ellipse">
            <a:avLst/>
          </a:prstGeom>
          <a:noFill/>
          <a:ln w="0">
            <a:noFill/>
            <a:prstDash val="solid"/>
          </a:ln>
        </p:spPr>
        <p:txBody>
          <a:bodyPr/>
          <a:lstStyle/>
          <a:p>
            <a:endParaRPr/>
          </a:p>
        </p:txBody>
      </p:sp>
      <p:sp>
        <p:nvSpPr>
          <p:cNvPr id="12" name="text">
            <a:extLst>
              <a:ext uri="{FF2B5EF4-FFF2-40B4-BE49-F238E27FC236}">
                <a16:creationId xmlns:a16="http://schemas.microsoft.com/office/drawing/2014/main" id="{F21B9B2B-5BA2-457A-B147-F6C64C7DD69A}"/>
              </a:ext>
            </a:extLst>
          </p:cNvPr>
          <p:cNvSpPr>
            <a:spLocks noGrp="1"/>
          </p:cNvSpPr>
          <p:nvPr/>
        </p:nvSpPr>
        <p:spPr>
          <a:xfrm>
            <a:off x="451485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3" name="text">
            <a:extLst>
              <a:ext uri="{FF2B5EF4-FFF2-40B4-BE49-F238E27FC236}">
                <a16:creationId xmlns:a16="http://schemas.microsoft.com/office/drawing/2014/main" id="{54017991-D081-4752-8F3F-E1185BF883FB}"/>
              </a:ext>
            </a:extLst>
          </p:cNvPr>
          <p:cNvSpPr>
            <a:spLocks noGrp="1"/>
          </p:cNvSpPr>
          <p:nvPr/>
        </p:nvSpPr>
        <p:spPr>
          <a:xfrm>
            <a:off x="506730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What</a:t>
            </a:r>
          </a:p>
        </p:txBody>
      </p:sp>
      <p:sp>
        <p:nvSpPr>
          <p:cNvPr id="14" name="text">
            <a:extLst>
              <a:ext uri="{FF2B5EF4-FFF2-40B4-BE49-F238E27FC236}">
                <a16:creationId xmlns:a16="http://schemas.microsoft.com/office/drawing/2014/main" id="{2C11A643-171C-4CCE-92E5-104E7EAAC735}"/>
              </a:ext>
            </a:extLst>
          </p:cNvPr>
          <p:cNvSpPr>
            <a:spLocks noGrp="1"/>
          </p:cNvSpPr>
          <p:nvPr/>
        </p:nvSpPr>
        <p:spPr>
          <a:xfrm>
            <a:off x="506730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Food type</a:t>
            </a:r>
          </a:p>
        </p:txBody>
      </p:sp>
      <p:sp>
        <p:nvSpPr>
          <p:cNvPr id="15" name="journey-2">
            <a:extLst>
              <a:ext uri="{FF2B5EF4-FFF2-40B4-BE49-F238E27FC236}">
                <a16:creationId xmlns:a16="http://schemas.microsoft.com/office/drawing/2014/main" id="{A34D91D1-B875-4D10-9809-97A408ED6BD4}"/>
              </a:ext>
            </a:extLst>
          </p:cNvPr>
          <p:cNvSpPr>
            <a:spLocks noGrp="1"/>
          </p:cNvSpPr>
          <p:nvPr/>
        </p:nvSpPr>
        <p:spPr>
          <a:xfrm>
            <a:off x="7886700" y="23812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08B3D6C-3F78-4E96-94F7-04518A2ECA08}"/>
              </a:ext>
            </a:extLst>
          </p:cNvPr>
          <p:cNvSpPr>
            <a:spLocks noGrp="1"/>
          </p:cNvSpPr>
          <p:nvPr/>
        </p:nvSpPr>
        <p:spPr>
          <a:xfrm>
            <a:off x="8115300" y="2609850"/>
            <a:ext cx="361950" cy="361950"/>
          </a:xfrm>
          <a:prstGeom prst="ellipse">
            <a:avLst/>
          </a:prstGeom>
          <a:noFill/>
          <a:ln w="0">
            <a:noFill/>
            <a:prstDash val="solid"/>
          </a:ln>
        </p:spPr>
        <p:txBody>
          <a:bodyPr/>
          <a:lstStyle/>
          <a:p>
            <a:endParaRPr/>
          </a:p>
        </p:txBody>
      </p:sp>
      <p:sp>
        <p:nvSpPr>
          <p:cNvPr id="17" name="text">
            <a:extLst>
              <a:ext uri="{FF2B5EF4-FFF2-40B4-BE49-F238E27FC236}">
                <a16:creationId xmlns:a16="http://schemas.microsoft.com/office/drawing/2014/main" id="{36BF7D2C-FE5D-45F9-84C9-34A01467142F}"/>
              </a:ext>
            </a:extLst>
          </p:cNvPr>
          <p:cNvSpPr>
            <a:spLocks noGrp="1"/>
          </p:cNvSpPr>
          <p:nvPr/>
        </p:nvSpPr>
        <p:spPr>
          <a:xfrm>
            <a:off x="8115300" y="27051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8" name="text">
            <a:extLst>
              <a:ext uri="{FF2B5EF4-FFF2-40B4-BE49-F238E27FC236}">
                <a16:creationId xmlns:a16="http://schemas.microsoft.com/office/drawing/2014/main" id="{5343A5AD-9DE1-498C-A53A-1737002B75DB}"/>
              </a:ext>
            </a:extLst>
          </p:cNvPr>
          <p:cNvSpPr>
            <a:spLocks noGrp="1"/>
          </p:cNvSpPr>
          <p:nvPr/>
        </p:nvSpPr>
        <p:spPr>
          <a:xfrm>
            <a:off x="8667750" y="26193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How much</a:t>
            </a:r>
          </a:p>
        </p:txBody>
      </p:sp>
      <p:sp>
        <p:nvSpPr>
          <p:cNvPr id="19" name="text">
            <a:extLst>
              <a:ext uri="{FF2B5EF4-FFF2-40B4-BE49-F238E27FC236}">
                <a16:creationId xmlns:a16="http://schemas.microsoft.com/office/drawing/2014/main" id="{71B24FAA-DE9A-4691-B044-75AB789A3E67}"/>
              </a:ext>
            </a:extLst>
          </p:cNvPr>
          <p:cNvSpPr>
            <a:spLocks noGrp="1"/>
          </p:cNvSpPr>
          <p:nvPr/>
        </p:nvSpPr>
        <p:spPr>
          <a:xfrm>
            <a:off x="8667750" y="30194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kg or tonnes</a:t>
            </a:r>
          </a:p>
        </p:txBody>
      </p:sp>
      <p:sp>
        <p:nvSpPr>
          <p:cNvPr id="20" name="journey-3">
            <a:extLst>
              <a:ext uri="{FF2B5EF4-FFF2-40B4-BE49-F238E27FC236}">
                <a16:creationId xmlns:a16="http://schemas.microsoft.com/office/drawing/2014/main" id="{D603BD82-F00F-456F-81CC-1F179AFE016D}"/>
              </a:ext>
            </a:extLst>
          </p:cNvPr>
          <p:cNvSpPr>
            <a:spLocks noGrp="1"/>
          </p:cNvSpPr>
          <p:nvPr/>
        </p:nvSpPr>
        <p:spPr>
          <a:xfrm>
            <a:off x="-22860" y="26098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5" name="journey-4">
            <a:extLst>
              <a:ext uri="{FF2B5EF4-FFF2-40B4-BE49-F238E27FC236}">
                <a16:creationId xmlns:a16="http://schemas.microsoft.com/office/drawing/2014/main" id="{B0D442AE-6331-4FAB-A6CD-6C11EBDD93C2}"/>
              </a:ext>
            </a:extLst>
          </p:cNvPr>
          <p:cNvSpPr>
            <a:spLocks noGrp="1"/>
          </p:cNvSpPr>
          <p:nvPr/>
        </p:nvSpPr>
        <p:spPr>
          <a:xfrm>
            <a:off x="4286250" y="3943350"/>
            <a:ext cx="3238500" cy="1257300"/>
          </a:xfrm>
          <a:prstGeom prst="roundRect">
            <a:avLst>
              <a:gd name="adj" fmla="val 19697"/>
            </a:avLst>
          </a:prstGeom>
          <a:noFill/>
          <a:ln w="0">
            <a:noFill/>
            <a:prstDash val="solid"/>
          </a:ln>
        </p:spPr>
        <p:style>
          <a:lnRef idx="0">
            <a:scrgbClr r="0" g="0" b="0"/>
          </a:lnRef>
          <a:fillRef idx="0">
            <a:scrgbClr r="0" g="0" b="0"/>
          </a:fillRef>
          <a:effectRef idx="4">
            <a:scrgbClr r="0" g="0" b="0"/>
          </a:effectRef>
          <a:fontRef idx="major"/>
        </p:style>
        <p:txBody>
          <a:bodyPr/>
          <a:lstStyle/>
          <a:p>
            <a:endParaRPr/>
          </a:p>
        </p:txBody>
      </p:sp>
      <p:sp>
        <p:nvSpPr>
          <p:cNvPr id="26" name="椭圆 25">
            <a:extLst>
              <a:ext uri="{FF2B5EF4-FFF2-40B4-BE49-F238E27FC236}">
                <a16:creationId xmlns:a16="http://schemas.microsoft.com/office/drawing/2014/main" id="{16798F80-AD01-4B58-AAE5-AE974214AAE0}"/>
              </a:ext>
            </a:extLst>
          </p:cNvPr>
          <p:cNvSpPr>
            <a:spLocks noGrp="1"/>
          </p:cNvSpPr>
          <p:nvPr/>
        </p:nvSpPr>
        <p:spPr>
          <a:xfrm>
            <a:off x="4514850" y="4171950"/>
            <a:ext cx="361950" cy="361950"/>
          </a:xfrm>
          <a:prstGeom prst="ellipse">
            <a:avLst/>
          </a:prstGeom>
          <a:noFill/>
          <a:ln w="0">
            <a:noFill/>
            <a:prstDash val="solid"/>
          </a:ln>
        </p:spPr>
        <p:txBody>
          <a:bodyPr/>
          <a:lstStyle/>
          <a:p>
            <a:endParaRPr/>
          </a:p>
        </p:txBody>
      </p:sp>
      <p:sp>
        <p:nvSpPr>
          <p:cNvPr id="27" name="text">
            <a:extLst>
              <a:ext uri="{FF2B5EF4-FFF2-40B4-BE49-F238E27FC236}">
                <a16:creationId xmlns:a16="http://schemas.microsoft.com/office/drawing/2014/main" id="{5554DF7B-7BDA-4270-B6A6-E3ADD1175DA1}"/>
              </a:ext>
            </a:extLst>
          </p:cNvPr>
          <p:cNvSpPr>
            <a:spLocks noGrp="1"/>
          </p:cNvSpPr>
          <p:nvPr/>
        </p:nvSpPr>
        <p:spPr>
          <a:xfrm>
            <a:off x="4514850" y="4267200"/>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28" name="text">
            <a:extLst>
              <a:ext uri="{FF2B5EF4-FFF2-40B4-BE49-F238E27FC236}">
                <a16:creationId xmlns:a16="http://schemas.microsoft.com/office/drawing/2014/main" id="{06B4BADC-940B-4260-B4E2-F222B8DA3C25}"/>
              </a:ext>
            </a:extLst>
          </p:cNvPr>
          <p:cNvSpPr>
            <a:spLocks noGrp="1"/>
          </p:cNvSpPr>
          <p:nvPr/>
        </p:nvSpPr>
        <p:spPr>
          <a:xfrm>
            <a:off x="5067300" y="4181475"/>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Review</a:t>
            </a:r>
          </a:p>
        </p:txBody>
      </p:sp>
      <p:sp>
        <p:nvSpPr>
          <p:cNvPr id="29" name="text">
            <a:extLst>
              <a:ext uri="{FF2B5EF4-FFF2-40B4-BE49-F238E27FC236}">
                <a16:creationId xmlns:a16="http://schemas.microsoft.com/office/drawing/2014/main" id="{2092CC69-C0C5-4911-9877-9A0ECA3ED78D}"/>
              </a:ext>
            </a:extLst>
          </p:cNvPr>
          <p:cNvSpPr>
            <a:spLocks noGrp="1"/>
          </p:cNvSpPr>
          <p:nvPr/>
        </p:nvSpPr>
        <p:spPr>
          <a:xfrm>
            <a:off x="5067300" y="4581525"/>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Add or edit entries</a:t>
            </a:r>
          </a:p>
        </p:txBody>
      </p:sp>
      <p:sp>
        <p:nvSpPr>
          <p:cNvPr id="35" name="text">
            <a:extLst>
              <a:ext uri="{FF2B5EF4-FFF2-40B4-BE49-F238E27FC236}">
                <a16:creationId xmlns:a16="http://schemas.microsoft.com/office/drawing/2014/main" id="{C7493243-34C4-40C5-B83A-CABD2F649F44}"/>
              </a:ext>
            </a:extLst>
          </p:cNvPr>
          <p:cNvSpPr>
            <a:spLocks noGrp="1"/>
          </p:cNvSpPr>
          <p:nvPr/>
        </p:nvSpPr>
        <p:spPr>
          <a:xfrm>
            <a:off x="701040" y="4438650"/>
            <a:ext cx="3238500" cy="952500"/>
          </a:xfrm>
          <a:prstGeom prst="rect">
            <a:avLst/>
          </a:prstGeom>
          <a:noFill/>
          <a:ln w="0">
            <a:noFill/>
            <a:prstDash val="solid"/>
          </a:ln>
        </p:spPr>
        <p:txBody>
          <a:bodyPr/>
          <a:lstStyle/>
          <a:p>
            <a:pPr algn="ctr">
              <a:buNone/>
              <a:defRPr sz="1350" b="1">
                <a:solidFill>
                  <a:srgbClr val="003223"/>
                </a:solidFill>
              </a:defRPr>
            </a:pPr>
            <a:r>
              <a:rPr sz="1350" b="1" dirty="0">
                <a:solidFill>
                  <a:srgbClr val="003223"/>
                </a:solidFill>
              </a:rPr>
              <a:t>See environmental and financial estimates, breakdowns and downloadable results.</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[Ruoxuan Huang]</a:t>
            </a:r>
          </a:p>
        </p:txBody>
      </p:sp>
      <p:pic>
        <p:nvPicPr>
          <p:cNvPr id="95" name="图片 94"/>
          <p:cNvPicPr>
            <a:picLocks noChangeAspect="1"/>
          </p:cNvPicPr>
          <p:nvPr/>
        </p:nvPicPr>
        <p:blipFill>
          <a:blip r:embed="rId3"/>
          <a:srcRect l="61" r="61"/>
          <a:stretch>
            <a:fillRect/>
          </a:stretch>
        </p:blipFill>
        <p:spPr>
          <a:xfrm>
            <a:off x="4572000" y="2381250"/>
            <a:ext cx="346710" cy="3905250"/>
          </a:xfrm>
          <a:prstGeom prst="rect">
            <a:avLst/>
          </a:prstGeom>
        </p:spPr>
      </p:pic>
      <p:pic>
        <p:nvPicPr>
          <p:cNvPr id="96" name="图片 95"/>
          <p:cNvPicPr>
            <a:picLocks noChangeAspect="1"/>
          </p:cNvPicPr>
          <p:nvPr/>
        </p:nvPicPr>
        <p:blipFill>
          <a:blip r:embed="rId3"/>
          <a:srcRect l="61" r="61"/>
          <a:stretch>
            <a:fillRect/>
          </a:stretch>
        </p:blipFill>
        <p:spPr>
          <a:xfrm>
            <a:off x="4918710" y="2381250"/>
            <a:ext cx="346710" cy="3905250"/>
          </a:xfrm>
          <a:prstGeom prst="rect">
            <a:avLst/>
          </a:prstGeom>
        </p:spPr>
      </p:pic>
      <p:pic>
        <p:nvPicPr>
          <p:cNvPr id="97" name="图片 96"/>
          <p:cNvPicPr>
            <a:picLocks noChangeAspect="1"/>
          </p:cNvPicPr>
          <p:nvPr/>
        </p:nvPicPr>
        <p:blipFill>
          <a:blip r:embed="rId4"/>
          <a:srcRect l="61" r="61"/>
          <a:stretch>
            <a:fillRect/>
          </a:stretch>
        </p:blipFill>
        <p:spPr>
          <a:xfrm>
            <a:off x="5265420" y="2381250"/>
            <a:ext cx="346710" cy="3905250"/>
          </a:xfrm>
          <a:prstGeom prst="rect">
            <a:avLst/>
          </a:prstGeom>
        </p:spPr>
      </p:pic>
      <p:pic>
        <p:nvPicPr>
          <p:cNvPr id="98" name="图片 97"/>
          <p:cNvPicPr>
            <a:picLocks noChangeAspect="1"/>
          </p:cNvPicPr>
          <p:nvPr/>
        </p:nvPicPr>
        <p:blipFill>
          <a:blip r:embed="rId5"/>
          <a:srcRect l="61" r="61"/>
          <a:stretch>
            <a:fillRect/>
          </a:stretch>
        </p:blipFill>
        <p:spPr>
          <a:xfrm>
            <a:off x="5612130" y="2381250"/>
            <a:ext cx="346710" cy="3905250"/>
          </a:xfrm>
          <a:prstGeom prst="rect">
            <a:avLst/>
          </a:prstGeom>
        </p:spPr>
      </p:pic>
      <p:pic>
        <p:nvPicPr>
          <p:cNvPr id="99" name="图片 98"/>
          <p:cNvPicPr>
            <a:picLocks noChangeAspect="1"/>
          </p:cNvPicPr>
          <p:nvPr/>
        </p:nvPicPr>
        <p:blipFill>
          <a:blip r:embed="rId6"/>
          <a:srcRect l="61" r="61"/>
          <a:stretch>
            <a:fillRect/>
          </a:stretch>
        </p:blipFill>
        <p:spPr>
          <a:xfrm>
            <a:off x="5958840" y="2381250"/>
            <a:ext cx="346710" cy="3905250"/>
          </a:xfrm>
          <a:prstGeom prst="rect">
            <a:avLst/>
          </a:prstGeom>
        </p:spPr>
      </p:pic>
      <p:pic>
        <p:nvPicPr>
          <p:cNvPr id="100" name="图片 99"/>
          <p:cNvPicPr>
            <a:picLocks noChangeAspect="1"/>
          </p:cNvPicPr>
          <p:nvPr/>
        </p:nvPicPr>
        <p:blipFill>
          <a:blip r:embed="rId7"/>
          <a:srcRect l="61" r="61"/>
          <a:stretch>
            <a:fillRect/>
          </a:stretch>
        </p:blipFill>
        <p:spPr>
          <a:xfrm>
            <a:off x="6305550" y="2381250"/>
            <a:ext cx="346710" cy="3905250"/>
          </a:xfrm>
          <a:prstGeom prst="rect">
            <a:avLst/>
          </a:prstGeom>
        </p:spPr>
      </p:pic>
      <p:pic>
        <p:nvPicPr>
          <p:cNvPr id="101" name="图片 100"/>
          <p:cNvPicPr>
            <a:picLocks noChangeAspect="1"/>
          </p:cNvPicPr>
          <p:nvPr/>
        </p:nvPicPr>
        <p:blipFill>
          <a:blip r:embed="rId8"/>
          <a:srcRect l="61" r="61"/>
          <a:stretch>
            <a:fillRect/>
          </a:stretch>
        </p:blipFill>
        <p:spPr>
          <a:xfrm>
            <a:off x="6652260" y="2381250"/>
            <a:ext cx="346710" cy="3905250"/>
          </a:xfrm>
          <a:prstGeom prst="rect">
            <a:avLst/>
          </a:prstGeom>
        </p:spPr>
      </p:pic>
      <p:pic>
        <p:nvPicPr>
          <p:cNvPr id="102" name="图片 101"/>
          <p:cNvPicPr>
            <a:picLocks noChangeAspect="1"/>
          </p:cNvPicPr>
          <p:nvPr/>
        </p:nvPicPr>
        <p:blipFill>
          <a:blip r:embed="rId9"/>
          <a:srcRect l="61" r="61"/>
          <a:stretch>
            <a:fillRect/>
          </a:stretch>
        </p:blipFill>
        <p:spPr>
          <a:xfrm>
            <a:off x="6998970" y="2381250"/>
            <a:ext cx="346710" cy="3905250"/>
          </a:xfrm>
          <a:prstGeom prst="rect">
            <a:avLst/>
          </a:prstGeom>
        </p:spPr>
      </p:pic>
      <p:pic>
        <p:nvPicPr>
          <p:cNvPr id="103" name="图片 102"/>
          <p:cNvPicPr>
            <a:picLocks noChangeAspect="1"/>
          </p:cNvPicPr>
          <p:nvPr/>
        </p:nvPicPr>
        <p:blipFill>
          <a:blip r:embed="rId10"/>
          <a:srcRect l="61" r="61"/>
          <a:stretch>
            <a:fillRect/>
          </a:stretch>
        </p:blipFill>
        <p:spPr>
          <a:xfrm>
            <a:off x="7345680" y="2381250"/>
            <a:ext cx="346710" cy="3905250"/>
          </a:xfrm>
          <a:prstGeom prst="rect">
            <a:avLst/>
          </a:prstGeom>
        </p:spPr>
      </p:pic>
      <p:pic>
        <p:nvPicPr>
          <p:cNvPr id="104" name="图片 103"/>
          <p:cNvPicPr>
            <a:picLocks noChangeAspect="1"/>
          </p:cNvPicPr>
          <p:nvPr/>
        </p:nvPicPr>
        <p:blipFill>
          <a:blip r:embed="rId11"/>
          <a:srcRect l="61" r="61"/>
          <a:stretch>
            <a:fillRect/>
          </a:stretch>
        </p:blipFill>
        <p:spPr>
          <a:xfrm>
            <a:off x="7692390" y="2381250"/>
            <a:ext cx="346710" cy="3905250"/>
          </a:xfrm>
          <a:prstGeom prst="rect">
            <a:avLst/>
          </a:prstGeom>
        </p:spPr>
      </p:pic>
      <p:pic>
        <p:nvPicPr>
          <p:cNvPr id="105" name="图片 104"/>
          <p:cNvPicPr>
            <a:picLocks noChangeAspect="1"/>
          </p:cNvPicPr>
          <p:nvPr/>
        </p:nvPicPr>
        <p:blipFill>
          <a:blip r:embed="rId12"/>
          <a:srcRect l="61" r="61"/>
          <a:stretch>
            <a:fillRect/>
          </a:stretch>
        </p:blipFill>
        <p:spPr>
          <a:xfrm>
            <a:off x="8039100" y="2381250"/>
            <a:ext cx="346710" cy="3905250"/>
          </a:xfrm>
          <a:prstGeom prst="rect">
            <a:avLst/>
          </a:prstGeom>
        </p:spPr>
      </p:pic>
      <p:pic>
        <p:nvPicPr>
          <p:cNvPr id="106" name="图片 105"/>
          <p:cNvPicPr>
            <a:picLocks noChangeAspect="1"/>
          </p:cNvPicPr>
          <p:nvPr/>
        </p:nvPicPr>
        <p:blipFill>
          <a:blip r:embed="rId13"/>
          <a:srcRect l="61" r="61"/>
          <a:stretch>
            <a:fillRect/>
          </a:stretch>
        </p:blipFill>
        <p:spPr>
          <a:xfrm>
            <a:off x="8385810" y="2381250"/>
            <a:ext cx="346710" cy="3905250"/>
          </a:xfrm>
          <a:prstGeom prst="rect">
            <a:avLst/>
          </a:prstGeom>
        </p:spPr>
      </p:pic>
      <p:pic>
        <p:nvPicPr>
          <p:cNvPr id="107" name="图片 106"/>
          <p:cNvPicPr>
            <a:picLocks noChangeAspect="1"/>
          </p:cNvPicPr>
          <p:nvPr/>
        </p:nvPicPr>
        <p:blipFill>
          <a:blip r:embed="rId14"/>
          <a:srcRect l="61" r="61"/>
          <a:stretch>
            <a:fillRect/>
          </a:stretch>
        </p:blipFill>
        <p:spPr>
          <a:xfrm>
            <a:off x="8732520" y="2381250"/>
            <a:ext cx="346710" cy="3905250"/>
          </a:xfrm>
          <a:prstGeom prst="rect">
            <a:avLst/>
          </a:prstGeom>
        </p:spPr>
      </p:pic>
      <p:pic>
        <p:nvPicPr>
          <p:cNvPr id="108" name="图片 107"/>
          <p:cNvPicPr>
            <a:picLocks noChangeAspect="1"/>
          </p:cNvPicPr>
          <p:nvPr/>
        </p:nvPicPr>
        <p:blipFill>
          <a:blip r:embed="rId15"/>
          <a:srcRect l="61" r="61"/>
          <a:stretch>
            <a:fillRect/>
          </a:stretch>
        </p:blipFill>
        <p:spPr>
          <a:xfrm>
            <a:off x="9079230" y="2381250"/>
            <a:ext cx="346710" cy="3905250"/>
          </a:xfrm>
          <a:prstGeom prst="rect">
            <a:avLst/>
          </a:prstGeom>
        </p:spPr>
      </p:pic>
      <p:pic>
        <p:nvPicPr>
          <p:cNvPr id="109" name="图片 108"/>
          <p:cNvPicPr>
            <a:picLocks noChangeAspect="1"/>
          </p:cNvPicPr>
          <p:nvPr/>
        </p:nvPicPr>
        <p:blipFill>
          <a:blip r:embed="rId16"/>
          <a:srcRect l="61" r="61"/>
          <a:stretch>
            <a:fillRect/>
          </a:stretch>
        </p:blipFill>
        <p:spPr>
          <a:xfrm>
            <a:off x="9425940" y="2381250"/>
            <a:ext cx="346710" cy="3905250"/>
          </a:xfrm>
          <a:prstGeom prst="rect">
            <a:avLst/>
          </a:prstGeom>
        </p:spPr>
      </p:pic>
      <p:pic>
        <p:nvPicPr>
          <p:cNvPr id="110" name="图片 109"/>
          <p:cNvPicPr>
            <a:picLocks noChangeAspect="1"/>
          </p:cNvPicPr>
          <p:nvPr/>
        </p:nvPicPr>
        <p:blipFill>
          <a:blip r:embed="rId17"/>
          <a:srcRect l="61" r="61"/>
          <a:stretch>
            <a:fillRect/>
          </a:stretch>
        </p:blipFill>
        <p:spPr>
          <a:xfrm>
            <a:off x="9772650" y="2381250"/>
            <a:ext cx="346710" cy="3905250"/>
          </a:xfrm>
          <a:prstGeom prst="rect">
            <a:avLst/>
          </a:prstGeom>
        </p:spPr>
      </p:pic>
      <p:pic>
        <p:nvPicPr>
          <p:cNvPr id="111" name="图片 110"/>
          <p:cNvPicPr>
            <a:picLocks noChangeAspect="1"/>
          </p:cNvPicPr>
          <p:nvPr/>
        </p:nvPicPr>
        <p:blipFill>
          <a:blip r:embed="rId18"/>
          <a:srcRect l="61" r="61"/>
          <a:stretch>
            <a:fillRect/>
          </a:stretch>
        </p:blipFill>
        <p:spPr>
          <a:xfrm>
            <a:off x="10119360" y="2381250"/>
            <a:ext cx="346710" cy="3905250"/>
          </a:xfrm>
          <a:prstGeom prst="rect">
            <a:avLst/>
          </a:prstGeom>
        </p:spPr>
      </p:pic>
      <p:pic>
        <p:nvPicPr>
          <p:cNvPr id="112" name="图片 111"/>
          <p:cNvPicPr>
            <a:picLocks noChangeAspect="1"/>
          </p:cNvPicPr>
          <p:nvPr/>
        </p:nvPicPr>
        <p:blipFill>
          <a:blip r:embed="rId19"/>
          <a:srcRect l="61" r="61"/>
          <a:stretch>
            <a:fillRect/>
          </a:stretch>
        </p:blipFill>
        <p:spPr>
          <a:xfrm>
            <a:off x="10466070" y="2381250"/>
            <a:ext cx="346710" cy="3905250"/>
          </a:xfrm>
          <a:prstGeom prst="rect">
            <a:avLst/>
          </a:prstGeom>
        </p:spPr>
      </p:pic>
      <p:pic>
        <p:nvPicPr>
          <p:cNvPr id="113" name="图片 112"/>
          <p:cNvPicPr>
            <a:picLocks noChangeAspect="1"/>
          </p:cNvPicPr>
          <p:nvPr/>
        </p:nvPicPr>
        <p:blipFill>
          <a:blip r:embed="rId3"/>
          <a:srcRect l="61" r="61"/>
          <a:stretch>
            <a:fillRect/>
          </a:stretch>
        </p:blipFill>
        <p:spPr>
          <a:xfrm>
            <a:off x="10812780" y="2381250"/>
            <a:ext cx="346710" cy="3905250"/>
          </a:xfrm>
          <a:prstGeom prst="rect">
            <a:avLst/>
          </a:prstGeom>
        </p:spPr>
      </p:pic>
      <p:pic>
        <p:nvPicPr>
          <p:cNvPr id="114" name="图片 113"/>
          <p:cNvPicPr>
            <a:picLocks noChangeAspect="1"/>
          </p:cNvPicPr>
          <p:nvPr/>
        </p:nvPicPr>
        <p:blipFill>
          <a:blip r:embed="rId20"/>
          <a:srcRect l="61" r="61"/>
          <a:stretch>
            <a:fillRect/>
          </a:stretch>
        </p:blipFill>
        <p:spPr>
          <a:xfrm>
            <a:off x="11159490" y="2381250"/>
            <a:ext cx="346710" cy="3905250"/>
          </a:xfrm>
          <a:prstGeom prst="rect">
            <a:avLst/>
          </a:prstGeom>
        </p:spPr>
      </p:pic>
      <p:sp>
        <p:nvSpPr>
          <p:cNvPr id="37" name="journey-5">
            <a:extLst>
              <a:ext uri="{FF2B5EF4-FFF2-40B4-BE49-F238E27FC236}">
                <a16:creationId xmlns:a16="http://schemas.microsoft.com/office/drawing/2014/main" id="{9A98B9F4-C51C-FF27-3920-33F2E73E3080}"/>
              </a:ext>
            </a:extLst>
          </p:cNvPr>
          <p:cNvSpPr>
            <a:spLocks noGrp="1"/>
          </p:cNvSpPr>
          <p:nvPr/>
        </p:nvSpPr>
        <p:spPr>
          <a:xfrm>
            <a:off x="714375" y="2619375"/>
            <a:ext cx="3238500" cy="1257300"/>
          </a:xfrm>
          <a:prstGeom prst="roundRect">
            <a:avLst>
              <a:gd name="adj" fmla="val 19697"/>
            </a:avLst>
          </a:prstGeom>
          <a:solidFill>
            <a:srgbClr val="F4F8F6"/>
          </a:solidFill>
          <a:ln w="7620">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39" name="椭圆 38">
            <a:extLst>
              <a:ext uri="{FF2B5EF4-FFF2-40B4-BE49-F238E27FC236}">
                <a16:creationId xmlns:a16="http://schemas.microsoft.com/office/drawing/2014/main" id="{508A146A-0D74-21EF-7BF8-ED2314669B5C}"/>
              </a:ext>
            </a:extLst>
          </p:cNvPr>
          <p:cNvSpPr>
            <a:spLocks noGrp="1"/>
          </p:cNvSpPr>
          <p:nvPr/>
        </p:nvSpPr>
        <p:spPr>
          <a:xfrm>
            <a:off x="942975" y="2847975"/>
            <a:ext cx="361950" cy="361950"/>
          </a:xfrm>
          <a:prstGeom prst="ellipse">
            <a:avLst/>
          </a:prstGeom>
          <a:solidFill>
            <a:srgbClr val="003223"/>
          </a:solidFill>
          <a:ln w="0">
            <a:noFill/>
            <a:prstDash val="solid"/>
          </a:ln>
        </p:spPr>
        <p:txBody>
          <a:bodyPr/>
          <a:lstStyle/>
          <a:p>
            <a:endParaRPr/>
          </a:p>
        </p:txBody>
      </p:sp>
      <p:sp>
        <p:nvSpPr>
          <p:cNvPr id="40" name="text">
            <a:extLst>
              <a:ext uri="{FF2B5EF4-FFF2-40B4-BE49-F238E27FC236}">
                <a16:creationId xmlns:a16="http://schemas.microsoft.com/office/drawing/2014/main" id="{15C7EB0D-FF71-4B4F-F8B6-4290185A8754}"/>
              </a:ext>
            </a:extLst>
          </p:cNvPr>
          <p:cNvSpPr>
            <a:spLocks noGrp="1"/>
          </p:cNvSpPr>
          <p:nvPr/>
        </p:nvSpPr>
        <p:spPr>
          <a:xfrm>
            <a:off x="942975" y="2943225"/>
            <a:ext cx="361950" cy="1714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41" name="text">
            <a:extLst>
              <a:ext uri="{FF2B5EF4-FFF2-40B4-BE49-F238E27FC236}">
                <a16:creationId xmlns:a16="http://schemas.microsoft.com/office/drawing/2014/main" id="{789274AF-65C6-8CF6-79AF-F23919AC96CD}"/>
              </a:ext>
            </a:extLst>
          </p:cNvPr>
          <p:cNvSpPr>
            <a:spLocks noGrp="1"/>
          </p:cNvSpPr>
          <p:nvPr/>
        </p:nvSpPr>
        <p:spPr>
          <a:xfrm>
            <a:off x="1495425" y="2857500"/>
            <a:ext cx="2095500" cy="28575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Results</a:t>
            </a:r>
          </a:p>
        </p:txBody>
      </p:sp>
      <p:sp>
        <p:nvSpPr>
          <p:cNvPr id="42" name="text">
            <a:extLst>
              <a:ext uri="{FF2B5EF4-FFF2-40B4-BE49-F238E27FC236}">
                <a16:creationId xmlns:a16="http://schemas.microsoft.com/office/drawing/2014/main" id="{EDD8DAC6-82E0-5028-8719-A01942E47507}"/>
              </a:ext>
            </a:extLst>
          </p:cNvPr>
          <p:cNvSpPr>
            <a:spLocks noGrp="1"/>
          </p:cNvSpPr>
          <p:nvPr/>
        </p:nvSpPr>
        <p:spPr>
          <a:xfrm>
            <a:off x="1495425" y="3257550"/>
            <a:ext cx="2095500" cy="28575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Break down + download</a:t>
            </a:r>
          </a:p>
        </p:txBody>
      </p:sp>
    </p:spTree>
    <p:extLst>
      <p:ext uri="{BB962C8B-B14F-4D97-AF65-F5344CB8AC3E}">
        <p14:creationId xmlns:p14="http://schemas.microsoft.com/office/powerpoint/2010/main" val="447011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8" name="eyebrow-8">
            <a:extLst>
              <a:ext uri="{FF2B5EF4-FFF2-40B4-BE49-F238E27FC236}">
                <a16:creationId xmlns:a16="http://schemas.microsoft.com/office/drawing/2014/main" id="{97E23AD3-F434-46D9-B6F4-799FB827D05D}"/>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8">
            <a:extLst>
              <a:ext uri="{FF2B5EF4-FFF2-40B4-BE49-F238E27FC236}">
                <a16:creationId xmlns:a16="http://schemas.microsoft.com/office/drawing/2014/main" id="{3CEBA7D6-B66D-499D-8BF3-7B584A636C7C}"/>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13</a:t>
            </a:r>
          </a:p>
        </p:txBody>
      </p:sp>
      <p:sp>
        <p:nvSpPr>
          <p:cNvPr id="3" name="title-8">
            <a:extLst>
              <a:ext uri="{FF2B5EF4-FFF2-40B4-BE49-F238E27FC236}">
                <a16:creationId xmlns:a16="http://schemas.microsoft.com/office/drawing/2014/main" id="{4325C2C7-1C4F-4DBB-9363-A2272443EE5D}"/>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Meaningful results</a:t>
            </a:r>
          </a:p>
        </p:txBody>
      </p:sp>
      <p:sp>
        <p:nvSpPr>
          <p:cNvPr id="4" name="subtitle-8">
            <a:extLst>
              <a:ext uri="{FF2B5EF4-FFF2-40B4-BE49-F238E27FC236}">
                <a16:creationId xmlns:a16="http://schemas.microsoft.com/office/drawing/2014/main" id="{398E4B21-A3CD-492B-BD91-62857E2172F8}"/>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VERIFIED FACTORS → UNDERSTANDABLE IMPACT</a:t>
            </a:r>
          </a:p>
        </p:txBody>
      </p:sp>
      <p:sp>
        <p:nvSpPr>
          <p:cNvPr id="5" name="result-0">
            <a:extLst>
              <a:ext uri="{FF2B5EF4-FFF2-40B4-BE49-F238E27FC236}">
                <a16:creationId xmlns:a16="http://schemas.microsoft.com/office/drawing/2014/main" id="{39B7D174-671A-40BE-8F89-BF40681D6CC1}"/>
              </a:ext>
            </a:extLst>
          </p:cNvPr>
          <p:cNvSpPr>
            <a:spLocks noGrp="1"/>
          </p:cNvSpPr>
          <p:nvPr/>
        </p:nvSpPr>
        <p:spPr>
          <a:xfrm>
            <a:off x="685800" y="2381250"/>
            <a:ext cx="2381250" cy="1809750"/>
          </a:xfrm>
          <a:prstGeom prst="roundRect">
            <a:avLst>
              <a:gd name="adj" fmla="val 13684"/>
            </a:avLst>
          </a:prstGeom>
          <a:solidFill>
            <a:srgbClr val="FFFFFF"/>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6" name="椭圆 5">
            <a:extLst>
              <a:ext uri="{FF2B5EF4-FFF2-40B4-BE49-F238E27FC236}">
                <a16:creationId xmlns:a16="http://schemas.microsoft.com/office/drawing/2014/main" id="{5A6D19DF-3484-4477-B877-C7889F793F98}"/>
              </a:ext>
            </a:extLst>
          </p:cNvPr>
          <p:cNvSpPr>
            <a:spLocks noGrp="1"/>
          </p:cNvSpPr>
          <p:nvPr/>
        </p:nvSpPr>
        <p:spPr>
          <a:xfrm>
            <a:off x="914400" y="2647950"/>
            <a:ext cx="209550" cy="209550"/>
          </a:xfrm>
          <a:prstGeom prst="ellipse">
            <a:avLst/>
          </a:prstGeom>
          <a:solidFill>
            <a:srgbClr val="28C882"/>
          </a:solidFill>
          <a:ln w="0">
            <a:noFill/>
            <a:prstDash val="solid"/>
          </a:ln>
        </p:spPr>
        <p:txBody>
          <a:bodyPr/>
          <a:lstStyle/>
          <a:p>
            <a:endParaRPr/>
          </a:p>
        </p:txBody>
      </p:sp>
      <p:sp>
        <p:nvSpPr>
          <p:cNvPr id="7" name="text">
            <a:extLst>
              <a:ext uri="{FF2B5EF4-FFF2-40B4-BE49-F238E27FC236}">
                <a16:creationId xmlns:a16="http://schemas.microsoft.com/office/drawing/2014/main" id="{A147E9DF-B9CE-41FF-B754-FEEDE9AC575B}"/>
              </a:ext>
            </a:extLst>
          </p:cNvPr>
          <p:cNvSpPr>
            <a:spLocks noGrp="1"/>
          </p:cNvSpPr>
          <p:nvPr/>
        </p:nvSpPr>
        <p:spPr>
          <a:xfrm>
            <a:off x="914400" y="3048000"/>
            <a:ext cx="1905000" cy="30480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Carbon</a:t>
            </a:r>
          </a:p>
        </p:txBody>
      </p:sp>
      <p:sp>
        <p:nvSpPr>
          <p:cNvPr id="8" name="text">
            <a:extLst>
              <a:ext uri="{FF2B5EF4-FFF2-40B4-BE49-F238E27FC236}">
                <a16:creationId xmlns:a16="http://schemas.microsoft.com/office/drawing/2014/main" id="{2B0D536B-A375-4AB9-B916-643950140B1E}"/>
              </a:ext>
            </a:extLst>
          </p:cNvPr>
          <p:cNvSpPr>
            <a:spLocks noGrp="1"/>
          </p:cNvSpPr>
          <p:nvPr/>
        </p:nvSpPr>
        <p:spPr>
          <a:xfrm>
            <a:off x="914400" y="3457575"/>
            <a:ext cx="323850" cy="209550"/>
          </a:xfrm>
          <a:prstGeom prst="rect">
            <a:avLst/>
          </a:prstGeom>
          <a:noFill/>
          <a:ln w="0">
            <a:noFill/>
            <a:prstDash val="solid"/>
          </a:ln>
        </p:spPr>
        <p:txBody>
          <a:bodyPr/>
          <a:lstStyle/>
          <a:p>
            <a:pPr algn="l">
              <a:buNone/>
              <a:defRPr sz="1350" b="1">
                <a:solidFill>
                  <a:srgbClr val="465F56"/>
                </a:solidFill>
              </a:defRPr>
            </a:pPr>
            <a:r>
              <a:rPr sz="1350" b="1">
                <a:solidFill>
                  <a:srgbClr val="465F56"/>
                </a:solidFill>
              </a:rPr>
              <a:t>→</a:t>
            </a:r>
          </a:p>
        </p:txBody>
      </p:sp>
      <p:sp>
        <p:nvSpPr>
          <p:cNvPr id="9" name="text">
            <a:extLst>
              <a:ext uri="{FF2B5EF4-FFF2-40B4-BE49-F238E27FC236}">
                <a16:creationId xmlns:a16="http://schemas.microsoft.com/office/drawing/2014/main" id="{18FBB71D-7B9C-4914-BD7E-30F2159943CF}"/>
              </a:ext>
            </a:extLst>
          </p:cNvPr>
          <p:cNvSpPr>
            <a:spLocks noGrp="1"/>
          </p:cNvSpPr>
          <p:nvPr/>
        </p:nvSpPr>
        <p:spPr>
          <a:xfrm>
            <a:off x="1276350" y="3429000"/>
            <a:ext cx="1524000" cy="28575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km driven</a:t>
            </a:r>
          </a:p>
        </p:txBody>
      </p:sp>
      <p:sp>
        <p:nvSpPr>
          <p:cNvPr id="10" name="result-1">
            <a:extLst>
              <a:ext uri="{FF2B5EF4-FFF2-40B4-BE49-F238E27FC236}">
                <a16:creationId xmlns:a16="http://schemas.microsoft.com/office/drawing/2014/main" id="{8556D622-540E-4BB6-85F3-2F0FD3652C17}"/>
              </a:ext>
            </a:extLst>
          </p:cNvPr>
          <p:cNvSpPr>
            <a:spLocks noGrp="1"/>
          </p:cNvSpPr>
          <p:nvPr/>
        </p:nvSpPr>
        <p:spPr>
          <a:xfrm>
            <a:off x="3409950" y="2381250"/>
            <a:ext cx="2381250" cy="1809750"/>
          </a:xfrm>
          <a:prstGeom prst="roundRect">
            <a:avLst>
              <a:gd name="adj" fmla="val 13684"/>
            </a:avLst>
          </a:prstGeom>
          <a:solidFill>
            <a:srgbClr val="FFFFFF"/>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11" name="椭圆 10">
            <a:extLst>
              <a:ext uri="{FF2B5EF4-FFF2-40B4-BE49-F238E27FC236}">
                <a16:creationId xmlns:a16="http://schemas.microsoft.com/office/drawing/2014/main" id="{3584FE97-1C57-4EFD-87B0-688BC8D7CFDD}"/>
              </a:ext>
            </a:extLst>
          </p:cNvPr>
          <p:cNvSpPr>
            <a:spLocks noGrp="1"/>
          </p:cNvSpPr>
          <p:nvPr/>
        </p:nvSpPr>
        <p:spPr>
          <a:xfrm>
            <a:off x="3638550" y="2647950"/>
            <a:ext cx="209550" cy="209550"/>
          </a:xfrm>
          <a:prstGeom prst="ellipse">
            <a:avLst/>
          </a:prstGeom>
          <a:solidFill>
            <a:srgbClr val="005AE6"/>
          </a:solidFill>
          <a:ln w="0">
            <a:noFill/>
            <a:prstDash val="solid"/>
          </a:ln>
        </p:spPr>
        <p:txBody>
          <a:bodyPr/>
          <a:lstStyle/>
          <a:p>
            <a:endParaRPr/>
          </a:p>
        </p:txBody>
      </p:sp>
      <p:sp>
        <p:nvSpPr>
          <p:cNvPr id="12" name="text">
            <a:extLst>
              <a:ext uri="{FF2B5EF4-FFF2-40B4-BE49-F238E27FC236}">
                <a16:creationId xmlns:a16="http://schemas.microsoft.com/office/drawing/2014/main" id="{2D5AC51E-8CE9-4770-9602-043622201F64}"/>
              </a:ext>
            </a:extLst>
          </p:cNvPr>
          <p:cNvSpPr>
            <a:spLocks noGrp="1"/>
          </p:cNvSpPr>
          <p:nvPr/>
        </p:nvSpPr>
        <p:spPr>
          <a:xfrm>
            <a:off x="3638550" y="3048000"/>
            <a:ext cx="1905000" cy="30480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Water</a:t>
            </a:r>
          </a:p>
        </p:txBody>
      </p:sp>
      <p:sp>
        <p:nvSpPr>
          <p:cNvPr id="13" name="text">
            <a:extLst>
              <a:ext uri="{FF2B5EF4-FFF2-40B4-BE49-F238E27FC236}">
                <a16:creationId xmlns:a16="http://schemas.microsoft.com/office/drawing/2014/main" id="{D4AF7BAF-66A3-4CC3-855C-5EDC3FE8A494}"/>
              </a:ext>
            </a:extLst>
          </p:cNvPr>
          <p:cNvSpPr>
            <a:spLocks noGrp="1"/>
          </p:cNvSpPr>
          <p:nvPr/>
        </p:nvSpPr>
        <p:spPr>
          <a:xfrm>
            <a:off x="3638550" y="3457575"/>
            <a:ext cx="323850" cy="209550"/>
          </a:xfrm>
          <a:prstGeom prst="rect">
            <a:avLst/>
          </a:prstGeom>
          <a:noFill/>
          <a:ln w="0">
            <a:noFill/>
            <a:prstDash val="solid"/>
          </a:ln>
        </p:spPr>
        <p:txBody>
          <a:bodyPr/>
          <a:lstStyle/>
          <a:p>
            <a:pPr algn="l">
              <a:buNone/>
              <a:defRPr sz="1350" b="1">
                <a:solidFill>
                  <a:srgbClr val="465F56"/>
                </a:solidFill>
              </a:defRPr>
            </a:pPr>
            <a:r>
              <a:rPr sz="1350" b="1">
                <a:solidFill>
                  <a:srgbClr val="465F56"/>
                </a:solidFill>
              </a:rPr>
              <a:t>→</a:t>
            </a:r>
          </a:p>
        </p:txBody>
      </p:sp>
      <p:sp>
        <p:nvSpPr>
          <p:cNvPr id="14" name="text">
            <a:extLst>
              <a:ext uri="{FF2B5EF4-FFF2-40B4-BE49-F238E27FC236}">
                <a16:creationId xmlns:a16="http://schemas.microsoft.com/office/drawing/2014/main" id="{603659B4-57FE-4AE8-B9FB-2F3F372594BF}"/>
              </a:ext>
            </a:extLst>
          </p:cNvPr>
          <p:cNvSpPr>
            <a:spLocks noGrp="1"/>
          </p:cNvSpPr>
          <p:nvPr/>
        </p:nvSpPr>
        <p:spPr>
          <a:xfrm>
            <a:off x="4000500" y="3429000"/>
            <a:ext cx="1524000" cy="28575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showers</a:t>
            </a:r>
          </a:p>
        </p:txBody>
      </p:sp>
      <p:sp>
        <p:nvSpPr>
          <p:cNvPr id="15" name="result-2">
            <a:extLst>
              <a:ext uri="{FF2B5EF4-FFF2-40B4-BE49-F238E27FC236}">
                <a16:creationId xmlns:a16="http://schemas.microsoft.com/office/drawing/2014/main" id="{86713F51-762E-46A1-8EC5-94BB67A73C2C}"/>
              </a:ext>
            </a:extLst>
          </p:cNvPr>
          <p:cNvSpPr>
            <a:spLocks noGrp="1"/>
          </p:cNvSpPr>
          <p:nvPr/>
        </p:nvSpPr>
        <p:spPr>
          <a:xfrm>
            <a:off x="6134100" y="2381250"/>
            <a:ext cx="2381250" cy="1809750"/>
          </a:xfrm>
          <a:prstGeom prst="roundRect">
            <a:avLst>
              <a:gd name="adj" fmla="val 13684"/>
            </a:avLst>
          </a:prstGeom>
          <a:solidFill>
            <a:srgbClr val="FFFFFF"/>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16" name="椭圆 15">
            <a:extLst>
              <a:ext uri="{FF2B5EF4-FFF2-40B4-BE49-F238E27FC236}">
                <a16:creationId xmlns:a16="http://schemas.microsoft.com/office/drawing/2014/main" id="{B666A17B-A1D7-42D1-BED3-1E1D67240707}"/>
              </a:ext>
            </a:extLst>
          </p:cNvPr>
          <p:cNvSpPr>
            <a:spLocks noGrp="1"/>
          </p:cNvSpPr>
          <p:nvPr/>
        </p:nvSpPr>
        <p:spPr>
          <a:xfrm>
            <a:off x="6362700" y="2647950"/>
            <a:ext cx="209550" cy="209550"/>
          </a:xfrm>
          <a:prstGeom prst="ellipse">
            <a:avLst/>
          </a:prstGeom>
          <a:solidFill>
            <a:srgbClr val="FF5032"/>
          </a:solidFill>
          <a:ln w="0">
            <a:noFill/>
            <a:prstDash val="solid"/>
          </a:ln>
        </p:spPr>
        <p:txBody>
          <a:bodyPr/>
          <a:lstStyle/>
          <a:p>
            <a:endParaRPr/>
          </a:p>
        </p:txBody>
      </p:sp>
      <p:sp>
        <p:nvSpPr>
          <p:cNvPr id="17" name="text">
            <a:extLst>
              <a:ext uri="{FF2B5EF4-FFF2-40B4-BE49-F238E27FC236}">
                <a16:creationId xmlns:a16="http://schemas.microsoft.com/office/drawing/2014/main" id="{84C6E8C2-53C9-4827-AA9C-C40C318E4353}"/>
              </a:ext>
            </a:extLst>
          </p:cNvPr>
          <p:cNvSpPr>
            <a:spLocks noGrp="1"/>
          </p:cNvSpPr>
          <p:nvPr/>
        </p:nvSpPr>
        <p:spPr>
          <a:xfrm>
            <a:off x="6362700" y="3048000"/>
            <a:ext cx="1905000" cy="30480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Financial cost</a:t>
            </a:r>
          </a:p>
        </p:txBody>
      </p:sp>
      <p:sp>
        <p:nvSpPr>
          <p:cNvPr id="18" name="text">
            <a:extLst>
              <a:ext uri="{FF2B5EF4-FFF2-40B4-BE49-F238E27FC236}">
                <a16:creationId xmlns:a16="http://schemas.microsoft.com/office/drawing/2014/main" id="{BB0973D1-1BA0-46DD-814F-675FE5CAA2F6}"/>
              </a:ext>
            </a:extLst>
          </p:cNvPr>
          <p:cNvSpPr>
            <a:spLocks noGrp="1"/>
          </p:cNvSpPr>
          <p:nvPr/>
        </p:nvSpPr>
        <p:spPr>
          <a:xfrm>
            <a:off x="6362700" y="3457575"/>
            <a:ext cx="323850" cy="209550"/>
          </a:xfrm>
          <a:prstGeom prst="rect">
            <a:avLst/>
          </a:prstGeom>
          <a:noFill/>
          <a:ln w="0">
            <a:noFill/>
            <a:prstDash val="solid"/>
          </a:ln>
        </p:spPr>
        <p:txBody>
          <a:bodyPr/>
          <a:lstStyle/>
          <a:p>
            <a:pPr algn="l">
              <a:buNone/>
              <a:defRPr sz="1350" b="1">
                <a:solidFill>
                  <a:srgbClr val="465F56"/>
                </a:solidFill>
              </a:defRPr>
            </a:pPr>
            <a:r>
              <a:rPr sz="1350" b="1">
                <a:solidFill>
                  <a:srgbClr val="465F56"/>
                </a:solidFill>
              </a:rPr>
              <a:t>→</a:t>
            </a:r>
          </a:p>
        </p:txBody>
      </p:sp>
      <p:sp>
        <p:nvSpPr>
          <p:cNvPr id="19" name="text">
            <a:extLst>
              <a:ext uri="{FF2B5EF4-FFF2-40B4-BE49-F238E27FC236}">
                <a16:creationId xmlns:a16="http://schemas.microsoft.com/office/drawing/2014/main" id="{0DB48AEE-9F09-4CC8-86CE-3B9248FF7AC1}"/>
              </a:ext>
            </a:extLst>
          </p:cNvPr>
          <p:cNvSpPr>
            <a:spLocks noGrp="1"/>
          </p:cNvSpPr>
          <p:nvPr/>
        </p:nvSpPr>
        <p:spPr>
          <a:xfrm>
            <a:off x="6724650" y="3429000"/>
            <a:ext cx="1524000" cy="28575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NZD</a:t>
            </a:r>
          </a:p>
        </p:txBody>
      </p:sp>
      <p:sp>
        <p:nvSpPr>
          <p:cNvPr id="20" name="result-3">
            <a:extLst>
              <a:ext uri="{FF2B5EF4-FFF2-40B4-BE49-F238E27FC236}">
                <a16:creationId xmlns:a16="http://schemas.microsoft.com/office/drawing/2014/main" id="{05C0B0D6-6EDC-4F5A-B964-9EEE365FA1FF}"/>
              </a:ext>
            </a:extLst>
          </p:cNvPr>
          <p:cNvSpPr>
            <a:spLocks noGrp="1"/>
          </p:cNvSpPr>
          <p:nvPr/>
        </p:nvSpPr>
        <p:spPr>
          <a:xfrm>
            <a:off x="8858250" y="2381250"/>
            <a:ext cx="2381250" cy="1809750"/>
          </a:xfrm>
          <a:prstGeom prst="roundRect">
            <a:avLst>
              <a:gd name="adj" fmla="val 13684"/>
            </a:avLst>
          </a:prstGeom>
          <a:solidFill>
            <a:srgbClr val="FFFFFF"/>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椭圆 20">
            <a:extLst>
              <a:ext uri="{FF2B5EF4-FFF2-40B4-BE49-F238E27FC236}">
                <a16:creationId xmlns:a16="http://schemas.microsoft.com/office/drawing/2014/main" id="{C3AE6949-BE18-4A09-BD55-06FFEDFCDB66}"/>
              </a:ext>
            </a:extLst>
          </p:cNvPr>
          <p:cNvSpPr>
            <a:spLocks noGrp="1"/>
          </p:cNvSpPr>
          <p:nvPr/>
        </p:nvSpPr>
        <p:spPr>
          <a:xfrm>
            <a:off x="9086850" y="2647950"/>
            <a:ext cx="209550" cy="209550"/>
          </a:xfrm>
          <a:prstGeom prst="ellipse">
            <a:avLst/>
          </a:prstGeom>
          <a:solidFill>
            <a:srgbClr val="87005A"/>
          </a:solidFill>
          <a:ln w="0">
            <a:noFill/>
            <a:prstDash val="solid"/>
          </a:ln>
        </p:spPr>
        <p:txBody>
          <a:bodyPr/>
          <a:lstStyle/>
          <a:p>
            <a:endParaRPr/>
          </a:p>
        </p:txBody>
      </p:sp>
      <p:sp>
        <p:nvSpPr>
          <p:cNvPr id="22" name="text">
            <a:extLst>
              <a:ext uri="{FF2B5EF4-FFF2-40B4-BE49-F238E27FC236}">
                <a16:creationId xmlns:a16="http://schemas.microsoft.com/office/drawing/2014/main" id="{2EC3EF60-1EDA-4AEF-B76C-39F2A004A4DF}"/>
              </a:ext>
            </a:extLst>
          </p:cNvPr>
          <p:cNvSpPr>
            <a:spLocks noGrp="1"/>
          </p:cNvSpPr>
          <p:nvPr/>
        </p:nvSpPr>
        <p:spPr>
          <a:xfrm>
            <a:off x="9086850" y="3048000"/>
            <a:ext cx="1905000" cy="304800"/>
          </a:xfrm>
          <a:prstGeom prst="rect">
            <a:avLst/>
          </a:prstGeom>
          <a:noFill/>
          <a:ln w="0">
            <a:noFill/>
            <a:prstDash val="solid"/>
          </a:ln>
        </p:spPr>
        <p:txBody>
          <a:bodyPr/>
          <a:lstStyle/>
          <a:p>
            <a:pPr algn="l">
              <a:buNone/>
              <a:defRPr sz="1725" b="1">
                <a:solidFill>
                  <a:srgbClr val="003223"/>
                </a:solidFill>
              </a:defRPr>
            </a:pPr>
            <a:r>
              <a:rPr sz="1725" b="1">
                <a:solidFill>
                  <a:srgbClr val="003223"/>
                </a:solidFill>
              </a:rPr>
              <a:t>Wasted food</a:t>
            </a:r>
          </a:p>
        </p:txBody>
      </p:sp>
      <p:sp>
        <p:nvSpPr>
          <p:cNvPr id="23" name="text">
            <a:extLst>
              <a:ext uri="{FF2B5EF4-FFF2-40B4-BE49-F238E27FC236}">
                <a16:creationId xmlns:a16="http://schemas.microsoft.com/office/drawing/2014/main" id="{1E2AB4F4-4674-408C-9D8F-0F7BE150909B}"/>
              </a:ext>
            </a:extLst>
          </p:cNvPr>
          <p:cNvSpPr>
            <a:spLocks noGrp="1"/>
          </p:cNvSpPr>
          <p:nvPr/>
        </p:nvSpPr>
        <p:spPr>
          <a:xfrm>
            <a:off x="9086850" y="3457575"/>
            <a:ext cx="323850" cy="209550"/>
          </a:xfrm>
          <a:prstGeom prst="rect">
            <a:avLst/>
          </a:prstGeom>
          <a:noFill/>
          <a:ln w="0">
            <a:noFill/>
            <a:prstDash val="solid"/>
          </a:ln>
        </p:spPr>
        <p:txBody>
          <a:bodyPr/>
          <a:lstStyle/>
          <a:p>
            <a:pPr algn="l">
              <a:buNone/>
              <a:defRPr sz="1350" b="1">
                <a:solidFill>
                  <a:srgbClr val="465F56"/>
                </a:solidFill>
              </a:defRPr>
            </a:pPr>
            <a:r>
              <a:rPr sz="1350" b="1">
                <a:solidFill>
                  <a:srgbClr val="465F56"/>
                </a:solidFill>
              </a:rPr>
              <a:t>→</a:t>
            </a:r>
          </a:p>
        </p:txBody>
      </p:sp>
      <p:sp>
        <p:nvSpPr>
          <p:cNvPr id="24" name="text">
            <a:extLst>
              <a:ext uri="{FF2B5EF4-FFF2-40B4-BE49-F238E27FC236}">
                <a16:creationId xmlns:a16="http://schemas.microsoft.com/office/drawing/2014/main" id="{C373EC8C-2844-4ADA-AA98-A899BBD0C788}"/>
              </a:ext>
            </a:extLst>
          </p:cNvPr>
          <p:cNvSpPr>
            <a:spLocks noGrp="1"/>
          </p:cNvSpPr>
          <p:nvPr/>
        </p:nvSpPr>
        <p:spPr>
          <a:xfrm>
            <a:off x="9448800" y="3429000"/>
            <a:ext cx="1524000" cy="285750"/>
          </a:xfrm>
          <a:prstGeom prst="rect">
            <a:avLst/>
          </a:prstGeom>
          <a:noFill/>
          <a:ln w="0">
            <a:noFill/>
            <a:prstDash val="solid"/>
          </a:ln>
        </p:spPr>
        <p:txBody>
          <a:bodyPr/>
          <a:lstStyle/>
          <a:p>
            <a:pPr algn="l">
              <a:buNone/>
              <a:defRPr sz="1350" b="0">
                <a:solidFill>
                  <a:srgbClr val="465F56"/>
                </a:solidFill>
              </a:defRPr>
            </a:pPr>
            <a:r>
              <a:rPr sz="1350" b="0">
                <a:solidFill>
                  <a:srgbClr val="465F56"/>
                </a:solidFill>
              </a:rPr>
              <a:t>meal equivalents</a:t>
            </a:r>
          </a:p>
        </p:txBody>
      </p:sp>
      <p:sp>
        <p:nvSpPr>
          <p:cNvPr id="25" name="integrity">
            <a:extLst>
              <a:ext uri="{FF2B5EF4-FFF2-40B4-BE49-F238E27FC236}">
                <a16:creationId xmlns:a16="http://schemas.microsoft.com/office/drawing/2014/main" id="{3524B917-C0BD-4809-BA12-E95E0278D7C7}"/>
              </a:ext>
            </a:extLst>
          </p:cNvPr>
          <p:cNvSpPr>
            <a:spLocks noGrp="1"/>
          </p:cNvSpPr>
          <p:nvPr/>
        </p:nvSpPr>
        <p:spPr>
          <a:xfrm>
            <a:off x="685800" y="4705350"/>
            <a:ext cx="10820400" cy="971550"/>
          </a:xfrm>
          <a:prstGeom prst="roundRect">
            <a:avLst>
              <a:gd name="adj" fmla="val 25490"/>
            </a:avLst>
          </a:prstGeom>
          <a:solidFill>
            <a:srgbClr val="003223"/>
          </a:solidFill>
          <a:ln w="0">
            <a:noFill/>
            <a:prstDash val="solid"/>
          </a:ln>
        </p:spPr>
        <p:style>
          <a:lnRef idx="0">
            <a:scrgbClr r="0" g="0" b="0"/>
          </a:lnRef>
          <a:fillRef idx="0">
            <a:scrgbClr r="0" g="0" b="0"/>
          </a:fillRef>
          <a:effectRef idx="7">
            <a:scrgbClr r="0" g="0" b="0"/>
          </a:effectRef>
          <a:fontRef idx="major"/>
        </p:style>
        <p:txBody>
          <a:bodyPr/>
          <a:lstStyle/>
          <a:p>
            <a:endParaRPr/>
          </a:p>
        </p:txBody>
      </p:sp>
      <p:sp>
        <p:nvSpPr>
          <p:cNvPr id="26" name="text">
            <a:extLst>
              <a:ext uri="{FF2B5EF4-FFF2-40B4-BE49-F238E27FC236}">
                <a16:creationId xmlns:a16="http://schemas.microsoft.com/office/drawing/2014/main" id="{2619BB73-5F34-4120-9DDA-2C5517086155}"/>
              </a:ext>
            </a:extLst>
          </p:cNvPr>
          <p:cNvSpPr>
            <a:spLocks noGrp="1"/>
          </p:cNvSpPr>
          <p:nvPr/>
        </p:nvSpPr>
        <p:spPr>
          <a:xfrm>
            <a:off x="1009650" y="4953000"/>
            <a:ext cx="2952750" cy="285750"/>
          </a:xfrm>
          <a:prstGeom prst="rect">
            <a:avLst/>
          </a:prstGeom>
          <a:noFill/>
          <a:ln w="0">
            <a:noFill/>
            <a:prstDash val="solid"/>
          </a:ln>
        </p:spPr>
        <p:txBody>
          <a:bodyPr/>
          <a:lstStyle/>
          <a:p>
            <a:pPr algn="l">
              <a:buNone/>
              <a:defRPr sz="1650" b="1">
                <a:solidFill>
                  <a:srgbClr val="DFF8ED"/>
                </a:solidFill>
              </a:defRPr>
            </a:pPr>
            <a:r>
              <a:rPr sz="1650" b="1">
                <a:solidFill>
                  <a:srgbClr val="DFF8ED"/>
                </a:solidFill>
              </a:rPr>
              <a:t>Evidence before claims</a:t>
            </a:r>
          </a:p>
        </p:txBody>
      </p:sp>
      <p:sp>
        <p:nvSpPr>
          <p:cNvPr id="27" name="text">
            <a:extLst>
              <a:ext uri="{FF2B5EF4-FFF2-40B4-BE49-F238E27FC236}">
                <a16:creationId xmlns:a16="http://schemas.microsoft.com/office/drawing/2014/main" id="{5EECEA4D-F1DC-4D48-B535-8F8C4B89CCFF}"/>
              </a:ext>
            </a:extLst>
          </p:cNvPr>
          <p:cNvSpPr>
            <a:spLocks noGrp="1"/>
          </p:cNvSpPr>
          <p:nvPr/>
        </p:nvSpPr>
        <p:spPr>
          <a:xfrm>
            <a:off x="3810000" y="4838700"/>
            <a:ext cx="7239000" cy="666750"/>
          </a:xfrm>
          <a:prstGeom prst="rect">
            <a:avLst/>
          </a:prstGeom>
          <a:noFill/>
          <a:ln w="0">
            <a:noFill/>
            <a:prstDash val="solid"/>
          </a:ln>
        </p:spPr>
        <p:txBody>
          <a:bodyPr/>
          <a:lstStyle/>
          <a:p>
            <a:pPr algn="l">
              <a:buNone/>
              <a:defRPr sz="1275" b="1">
                <a:solidFill>
                  <a:srgbClr val="FFFFFF"/>
                </a:solidFill>
              </a:defRPr>
            </a:pPr>
            <a:r>
              <a:rPr sz="1275" b="1">
                <a:solidFill>
                  <a:srgbClr val="FFFFFF"/>
                </a:solidFill>
              </a:rPr>
              <a:t>Current values remain demonstration placeholders until Kai Commitment approves the factors. Factors can be updated as science and costs change.</a:t>
            </a:r>
          </a:p>
        </p:txBody>
      </p:sp>
      <p:sp>
        <p:nvSpPr>
          <p:cNvPr id="29" name="presenter-placeholder">
            <a:extLst>
              <a:ext uri="{FF2B5EF4-FFF2-40B4-BE49-F238E27FC236}">
                <a16:creationId xmlns:a16="http://schemas.microsoft.com/office/drawing/2014/main" id="{B310997B-67BA-4231-9C8F-DF3AEB2B26B9}"/>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[Xiangsong Tian]</a:t>
            </a:r>
          </a:p>
        </p:txBody>
      </p:sp>
    </p:spTree>
    <p:extLst>
      <p:ext uri="{BB962C8B-B14F-4D97-AF65-F5344CB8AC3E}">
        <p14:creationId xmlns:p14="http://schemas.microsoft.com/office/powerpoint/2010/main" val="179932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13" name="result-0">
            <a:extLst>
              <a:ext uri="{FF2B5EF4-FFF2-40B4-BE49-F238E27FC236}">
                <a16:creationId xmlns:a16="http://schemas.microsoft.com/office/drawing/2014/main" id="{65AE057B-9DAC-2CAD-C054-949AF25299C0}"/>
              </a:ext>
            </a:extLst>
          </p:cNvPr>
          <p:cNvSpPr>
            <a:spLocks noGrp="1"/>
          </p:cNvSpPr>
          <p:nvPr/>
        </p:nvSpPr>
        <p:spPr>
          <a:xfrm>
            <a:off x="6386688" y="2362199"/>
            <a:ext cx="5143499" cy="2857499"/>
          </a:xfrm>
          <a:prstGeom prst="roundRect">
            <a:avLst>
              <a:gd name="adj" fmla="val 13684"/>
            </a:avLst>
          </a:prstGeom>
          <a:solidFill>
            <a:schemeClr val="accent6">
              <a:lumMod val="20000"/>
              <a:lumOff val="80000"/>
            </a:schemeClr>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result-0">
            <a:extLst>
              <a:ext uri="{FF2B5EF4-FFF2-40B4-BE49-F238E27FC236}">
                <a16:creationId xmlns:a16="http://schemas.microsoft.com/office/drawing/2014/main" id="{2C73F4B9-B4AB-3AF7-41CE-800A981F9B8F}"/>
              </a:ext>
            </a:extLst>
          </p:cNvPr>
          <p:cNvSpPr>
            <a:spLocks noGrp="1"/>
          </p:cNvSpPr>
          <p:nvPr/>
        </p:nvSpPr>
        <p:spPr>
          <a:xfrm>
            <a:off x="709789" y="2385483"/>
            <a:ext cx="5143500" cy="2857500"/>
          </a:xfrm>
          <a:prstGeom prst="roundRect">
            <a:avLst>
              <a:gd name="adj" fmla="val 13684"/>
            </a:avLst>
          </a:prstGeom>
          <a:solidFill>
            <a:schemeClr val="accent6">
              <a:lumMod val="20000"/>
              <a:lumOff val="80000"/>
            </a:schemeClr>
          </a:solid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dirty="0"/>
          </a:p>
        </p:txBody>
      </p:sp>
      <p:sp>
        <p:nvSpPr>
          <p:cNvPr id="15" name="eyebrow-9">
            <a:extLst>
              <a:ext uri="{FF2B5EF4-FFF2-40B4-BE49-F238E27FC236}">
                <a16:creationId xmlns:a16="http://schemas.microsoft.com/office/drawing/2014/main" id="{BE6C9FA5-DA0B-495D-BD15-9A4742EEEA24}"/>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9">
            <a:extLst>
              <a:ext uri="{FF2B5EF4-FFF2-40B4-BE49-F238E27FC236}">
                <a16:creationId xmlns:a16="http://schemas.microsoft.com/office/drawing/2014/main" id="{95548E31-FF3A-4F2E-8EEB-751FB9C616A3}"/>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14</a:t>
            </a:r>
          </a:p>
        </p:txBody>
      </p:sp>
      <p:sp>
        <p:nvSpPr>
          <p:cNvPr id="3" name="title-9">
            <a:extLst>
              <a:ext uri="{FF2B5EF4-FFF2-40B4-BE49-F238E27FC236}">
                <a16:creationId xmlns:a16="http://schemas.microsoft.com/office/drawing/2014/main" id="{BE680372-A7BF-4799-8AC3-B082AE5DC130}"/>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dirty="0">
                <a:solidFill>
                  <a:srgbClr val="003223"/>
                </a:solidFill>
              </a:rPr>
              <a:t>Why it matters</a:t>
            </a:r>
          </a:p>
        </p:txBody>
      </p:sp>
      <p:sp>
        <p:nvSpPr>
          <p:cNvPr id="4" name="subtitle-9">
            <a:extLst>
              <a:ext uri="{FF2B5EF4-FFF2-40B4-BE49-F238E27FC236}">
                <a16:creationId xmlns:a16="http://schemas.microsoft.com/office/drawing/2014/main" id="{20A75A86-7AA7-46BE-8D69-71415280F97B}"/>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0">
                <a:solidFill>
                  <a:srgbClr val="465F56"/>
                </a:solidFill>
              </a:defRPr>
            </a:pPr>
            <a:r>
              <a:rPr sz="1275" b="0">
                <a:solidFill>
                  <a:srgbClr val="465F56"/>
                </a:solidFill>
              </a:rPr>
              <a:t>The calculator turns food-waste data into information that supports better decisions.</a:t>
            </a:r>
          </a:p>
        </p:txBody>
      </p:sp>
      <p:sp>
        <p:nvSpPr>
          <p:cNvPr id="5" name="business-value">
            <a:extLst>
              <a:ext uri="{FF2B5EF4-FFF2-40B4-BE49-F238E27FC236}">
                <a16:creationId xmlns:a16="http://schemas.microsoft.com/office/drawing/2014/main" id="{70EC720D-B527-4B0C-A520-4430930F6F3C}"/>
              </a:ext>
            </a:extLst>
          </p:cNvPr>
          <p:cNvSpPr>
            <a:spLocks noGrp="1"/>
          </p:cNvSpPr>
          <p:nvPr/>
        </p:nvSpPr>
        <p:spPr>
          <a:xfrm>
            <a:off x="685800" y="2362200"/>
            <a:ext cx="5143500" cy="2857500"/>
          </a:xfrm>
          <a:prstGeom prst="roundRect">
            <a:avLst>
              <a:gd name="adj" fmla="val 10294"/>
            </a:avLst>
          </a:prstGeom>
          <a:no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6" name="text">
            <a:extLst>
              <a:ext uri="{FF2B5EF4-FFF2-40B4-BE49-F238E27FC236}">
                <a16:creationId xmlns:a16="http://schemas.microsoft.com/office/drawing/2014/main" id="{A8DA9DB8-7E5C-4D7B-8CE1-EEF2EF13CBC3}"/>
              </a:ext>
            </a:extLst>
          </p:cNvPr>
          <p:cNvSpPr>
            <a:spLocks noGrp="1"/>
          </p:cNvSpPr>
          <p:nvPr/>
        </p:nvSpPr>
        <p:spPr>
          <a:xfrm>
            <a:off x="1066800" y="2686050"/>
            <a:ext cx="4286250" cy="285750"/>
          </a:xfrm>
          <a:prstGeom prst="rect">
            <a:avLst/>
          </a:prstGeom>
          <a:noFill/>
          <a:ln w="0">
            <a:noFill/>
            <a:prstDash val="solid"/>
          </a:ln>
        </p:spPr>
        <p:txBody>
          <a:bodyPr/>
          <a:lstStyle/>
          <a:p>
            <a:pPr algn="l">
              <a:buNone/>
              <a:defRPr sz="1500" b="1">
                <a:solidFill>
                  <a:srgbClr val="465F56"/>
                </a:solidFill>
              </a:defRPr>
            </a:pPr>
            <a:r>
              <a:rPr sz="1500" b="1">
                <a:solidFill>
                  <a:srgbClr val="465F56"/>
                </a:solidFill>
              </a:rPr>
              <a:t>FOR FOOD BUSINESSES</a:t>
            </a:r>
          </a:p>
        </p:txBody>
      </p:sp>
      <p:sp>
        <p:nvSpPr>
          <p:cNvPr id="7" name="text">
            <a:extLst>
              <a:ext uri="{FF2B5EF4-FFF2-40B4-BE49-F238E27FC236}">
                <a16:creationId xmlns:a16="http://schemas.microsoft.com/office/drawing/2014/main" id="{17440812-90F6-4B9B-BBD7-61C52D47CA82}"/>
              </a:ext>
            </a:extLst>
          </p:cNvPr>
          <p:cNvSpPr>
            <a:spLocks noGrp="1"/>
          </p:cNvSpPr>
          <p:nvPr/>
        </p:nvSpPr>
        <p:spPr>
          <a:xfrm>
            <a:off x="1066800" y="3162300"/>
            <a:ext cx="4286250" cy="1714500"/>
          </a:xfrm>
          <a:prstGeom prst="rect">
            <a:avLst/>
          </a:prstGeom>
          <a:noFill/>
          <a:ln w="0">
            <a:noFill/>
            <a:prstDash val="solid"/>
          </a:ln>
        </p:spPr>
        <p:txBody>
          <a:bodyPr/>
          <a:lstStyle/>
          <a:p>
            <a:pPr algn="l">
              <a:buNone/>
              <a:defRPr sz="1425" b="1">
                <a:solidFill>
                  <a:srgbClr val="003223"/>
                </a:solidFill>
              </a:defRPr>
            </a:pPr>
            <a:r>
              <a:rPr sz="1425" b="1">
                <a:solidFill>
                  <a:srgbClr val="003223"/>
                </a:solidFill>
              </a:rPr>
              <a:t>• Understand impact</a:t>
            </a:r>
          </a:p>
          <a:p>
            <a:pPr algn="l">
              <a:buNone/>
              <a:defRPr sz="1425" b="1">
                <a:solidFill>
                  <a:srgbClr val="003223"/>
                </a:solidFill>
              </a:defRPr>
            </a:pPr>
            <a:r>
              <a:rPr sz="1425" b="1">
                <a:solidFill>
                  <a:srgbClr val="003223"/>
                </a:solidFill>
              </a:rPr>
              <a:t>• Compare disposal choices</a:t>
            </a:r>
          </a:p>
          <a:p>
            <a:pPr algn="l">
              <a:buNone/>
              <a:defRPr sz="1425" b="1">
                <a:solidFill>
                  <a:srgbClr val="003223"/>
                </a:solidFill>
              </a:defRPr>
            </a:pPr>
            <a:r>
              <a:rPr sz="1425" b="1">
                <a:solidFill>
                  <a:srgbClr val="003223"/>
                </a:solidFill>
              </a:rPr>
              <a:t>• Identify waste hotspots</a:t>
            </a:r>
          </a:p>
          <a:p>
            <a:pPr algn="l">
              <a:buNone/>
              <a:defRPr sz="1425" b="1">
                <a:solidFill>
                  <a:srgbClr val="003223"/>
                </a:solidFill>
              </a:defRPr>
            </a:pPr>
            <a:r>
              <a:rPr sz="1425" b="1">
                <a:solidFill>
                  <a:srgbClr val="003223"/>
                </a:solidFill>
              </a:rPr>
              <a:t>• Track improvement</a:t>
            </a:r>
          </a:p>
          <a:p>
            <a:pPr algn="l">
              <a:buNone/>
              <a:defRPr sz="1425" b="1">
                <a:solidFill>
                  <a:srgbClr val="003223"/>
                </a:solidFill>
              </a:defRPr>
            </a:pPr>
            <a:r>
              <a:rPr sz="1425" b="1">
                <a:solidFill>
                  <a:srgbClr val="003223"/>
                </a:solidFill>
              </a:rPr>
              <a:t>• Reduce avoidable costs</a:t>
            </a:r>
          </a:p>
        </p:txBody>
      </p:sp>
      <p:sp>
        <p:nvSpPr>
          <p:cNvPr id="8" name="kai-value">
            <a:extLst>
              <a:ext uri="{FF2B5EF4-FFF2-40B4-BE49-F238E27FC236}">
                <a16:creationId xmlns:a16="http://schemas.microsoft.com/office/drawing/2014/main" id="{47D462F9-5FE3-4501-A2D8-476E4A3EC1C9}"/>
              </a:ext>
            </a:extLst>
          </p:cNvPr>
          <p:cNvSpPr>
            <a:spLocks noGrp="1"/>
          </p:cNvSpPr>
          <p:nvPr/>
        </p:nvSpPr>
        <p:spPr>
          <a:xfrm>
            <a:off x="6362700" y="2362200"/>
            <a:ext cx="5143500" cy="2857500"/>
          </a:xfrm>
          <a:prstGeom prst="roundRect">
            <a:avLst>
              <a:gd name="adj" fmla="val 10294"/>
            </a:avLst>
          </a:prstGeom>
          <a:noFill/>
          <a:ln w="9525">
            <a:solidFill>
              <a:srgbClr val="C8D7D1"/>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text">
            <a:extLst>
              <a:ext uri="{FF2B5EF4-FFF2-40B4-BE49-F238E27FC236}">
                <a16:creationId xmlns:a16="http://schemas.microsoft.com/office/drawing/2014/main" id="{8E6BE083-30E5-4638-AB8A-AC002C583D99}"/>
              </a:ext>
            </a:extLst>
          </p:cNvPr>
          <p:cNvSpPr>
            <a:spLocks noGrp="1"/>
          </p:cNvSpPr>
          <p:nvPr/>
        </p:nvSpPr>
        <p:spPr>
          <a:xfrm>
            <a:off x="6743700" y="2686050"/>
            <a:ext cx="4286250" cy="285750"/>
          </a:xfrm>
          <a:prstGeom prst="rect">
            <a:avLst/>
          </a:prstGeom>
          <a:noFill/>
          <a:ln w="0">
            <a:noFill/>
            <a:prstDash val="solid"/>
          </a:ln>
        </p:spPr>
        <p:txBody>
          <a:bodyPr/>
          <a:lstStyle/>
          <a:p>
            <a:pPr algn="l">
              <a:buNone/>
              <a:defRPr sz="1500" b="1">
                <a:solidFill>
                  <a:srgbClr val="465F56"/>
                </a:solidFill>
              </a:defRPr>
            </a:pPr>
            <a:r>
              <a:rPr sz="1500" b="1">
                <a:solidFill>
                  <a:srgbClr val="465F56"/>
                </a:solidFill>
              </a:rPr>
              <a:t>FOR KAI COMMITMENT</a:t>
            </a:r>
          </a:p>
        </p:txBody>
      </p:sp>
      <p:sp>
        <p:nvSpPr>
          <p:cNvPr id="10" name="text">
            <a:extLst>
              <a:ext uri="{FF2B5EF4-FFF2-40B4-BE49-F238E27FC236}">
                <a16:creationId xmlns:a16="http://schemas.microsoft.com/office/drawing/2014/main" id="{3BEF4E06-C176-47C0-8FA5-B2B5CF445EAC}"/>
              </a:ext>
            </a:extLst>
          </p:cNvPr>
          <p:cNvSpPr>
            <a:spLocks noGrp="1"/>
          </p:cNvSpPr>
          <p:nvPr/>
        </p:nvSpPr>
        <p:spPr>
          <a:xfrm>
            <a:off x="6743700" y="3162300"/>
            <a:ext cx="4286250" cy="1714500"/>
          </a:xfrm>
          <a:prstGeom prst="rect">
            <a:avLst/>
          </a:prstGeom>
          <a:noFill/>
          <a:ln w="0">
            <a:noFill/>
            <a:prstDash val="solid"/>
          </a:ln>
        </p:spPr>
        <p:txBody>
          <a:bodyPr/>
          <a:lstStyle/>
          <a:p>
            <a:pPr algn="l">
              <a:buNone/>
              <a:defRPr sz="1350" b="1">
                <a:solidFill>
                  <a:srgbClr val="003223"/>
                </a:solidFill>
              </a:defRPr>
            </a:pPr>
            <a:r>
              <a:rPr sz="1350" b="1" dirty="0">
                <a:solidFill>
                  <a:srgbClr val="003223"/>
                </a:solidFill>
              </a:rPr>
              <a:t>• Maintain approved impact factors</a:t>
            </a:r>
          </a:p>
          <a:p>
            <a:pPr algn="l">
              <a:buNone/>
              <a:defRPr sz="1350" b="1">
                <a:solidFill>
                  <a:srgbClr val="003223"/>
                </a:solidFill>
              </a:defRPr>
            </a:pPr>
            <a:r>
              <a:rPr sz="1350" b="1" dirty="0">
                <a:solidFill>
                  <a:srgbClr val="003223"/>
                </a:solidFill>
              </a:rPr>
              <a:t>• Support consistent impact reporting</a:t>
            </a:r>
          </a:p>
          <a:p>
            <a:pPr algn="l">
              <a:buNone/>
              <a:defRPr sz="1350" b="1">
                <a:solidFill>
                  <a:srgbClr val="003223"/>
                </a:solidFill>
              </a:defRPr>
            </a:pPr>
            <a:r>
              <a:rPr sz="1350" b="1" dirty="0">
                <a:solidFill>
                  <a:srgbClr val="003223"/>
                </a:solidFill>
              </a:rPr>
              <a:t>• Understand broader waste patterns</a:t>
            </a:r>
          </a:p>
          <a:p>
            <a:pPr algn="l">
              <a:buNone/>
              <a:defRPr sz="1350" b="1">
                <a:solidFill>
                  <a:srgbClr val="003223"/>
                </a:solidFill>
              </a:defRPr>
            </a:pPr>
            <a:r>
              <a:rPr sz="1350" b="1" dirty="0">
                <a:solidFill>
                  <a:srgbClr val="003223"/>
                </a:solidFill>
              </a:rPr>
              <a:t>• Keep the calculator useful as evidence and costs change</a:t>
            </a:r>
          </a:p>
        </p:txBody>
      </p:sp>
      <p:sp>
        <p:nvSpPr>
          <p:cNvPr id="14" name="text">
            <a:extLst>
              <a:ext uri="{FF2B5EF4-FFF2-40B4-BE49-F238E27FC236}">
                <a16:creationId xmlns:a16="http://schemas.microsoft.com/office/drawing/2014/main" id="{8E16E382-8AD3-463A-89BD-8F7A793A848A}"/>
              </a:ext>
            </a:extLst>
          </p:cNvPr>
          <p:cNvSpPr>
            <a:spLocks noGrp="1"/>
          </p:cNvSpPr>
          <p:nvPr/>
        </p:nvSpPr>
        <p:spPr>
          <a:xfrm>
            <a:off x="685800" y="5524500"/>
            <a:ext cx="10820400" cy="323850"/>
          </a:xfrm>
          <a:prstGeom prst="rect">
            <a:avLst/>
          </a:prstGeom>
          <a:noFill/>
          <a:ln w="0">
            <a:noFill/>
            <a:prstDash val="solid"/>
          </a:ln>
        </p:spPr>
        <p:txBody>
          <a:bodyPr/>
          <a:lstStyle/>
          <a:p>
            <a:pPr algn="ctr">
              <a:buNone/>
              <a:defRPr sz="1575" b="1">
                <a:solidFill>
                  <a:srgbClr val="003223"/>
                </a:solidFill>
              </a:defRPr>
            </a:pPr>
            <a:r>
              <a:rPr sz="1575" b="1">
                <a:solidFill>
                  <a:srgbClr val="003223"/>
                </a:solidFill>
              </a:rPr>
              <a:t>Better information can support better food-waste decisions.</a:t>
            </a:r>
          </a:p>
        </p:txBody>
      </p:sp>
      <p:sp>
        <p:nvSpPr>
          <p:cNvPr id="11" name="presenter-placeholder">
            <a:extLst>
              <a:ext uri="{FF2B5EF4-FFF2-40B4-BE49-F238E27FC236}">
                <a16:creationId xmlns:a16="http://schemas.microsoft.com/office/drawing/2014/main" id="{419DF2F2-0A99-5670-7CA1-4B1A19CC6975}"/>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[Xiangsong Tian]</a:t>
            </a:r>
          </a:p>
        </p:txBody>
      </p:sp>
    </p:spTree>
    <p:extLst>
      <p:ext uri="{BB962C8B-B14F-4D97-AF65-F5344CB8AC3E}">
        <p14:creationId xmlns:p14="http://schemas.microsoft.com/office/powerpoint/2010/main" val="1076955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eyebrow-7">
            <a:extLst>
              <a:ext uri="{FF2B5EF4-FFF2-40B4-BE49-F238E27FC236}">
                <a16:creationId xmlns:a16="http://schemas.microsoft.com/office/drawing/2014/main" id="{6D92BF7B-9F93-43A7-861D-FCA2C1806608}"/>
              </a:ext>
            </a:extLst>
          </p:cNvPr>
          <p:cNvSpPr>
            <a:spLocks noGrp="1"/>
          </p:cNvSpPr>
          <p:nvPr/>
        </p:nvSpPr>
        <p:spPr>
          <a:xfrm>
            <a:off x="685800" y="438150"/>
            <a:ext cx="6667500" cy="24765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KAI COMMITMENT · TEAM 16</a:t>
            </a:r>
          </a:p>
        </p:txBody>
      </p:sp>
      <p:sp>
        <p:nvSpPr>
          <p:cNvPr id="2" name="page-7">
            <a:extLst>
              <a:ext uri="{FF2B5EF4-FFF2-40B4-BE49-F238E27FC236}">
                <a16:creationId xmlns:a16="http://schemas.microsoft.com/office/drawing/2014/main" id="{6BF75033-A62B-442A-A293-B3C564F7EE7E}"/>
              </a:ext>
            </a:extLst>
          </p:cNvPr>
          <p:cNvSpPr>
            <a:spLocks noGrp="1"/>
          </p:cNvSpPr>
          <p:nvPr/>
        </p:nvSpPr>
        <p:spPr>
          <a:xfrm>
            <a:off x="10991850" y="438150"/>
            <a:ext cx="514350" cy="228600"/>
          </a:xfrm>
          <a:prstGeom prst="rect">
            <a:avLst/>
          </a:prstGeom>
          <a:noFill/>
          <a:ln w="0">
            <a:noFill/>
            <a:prstDash val="solid"/>
          </a:ln>
        </p:spPr>
        <p:txBody>
          <a:bodyPr/>
          <a:lstStyle/>
          <a:p>
            <a:pPr algn="r">
              <a:buNone/>
              <a:defRPr sz="975" b="1">
                <a:solidFill>
                  <a:srgbClr val="465F56"/>
                </a:solidFill>
              </a:defRPr>
            </a:pPr>
            <a:r>
              <a:rPr sz="975" b="1">
                <a:solidFill>
                  <a:srgbClr val="465F56"/>
                </a:solidFill>
              </a:rPr>
              <a:t>12</a:t>
            </a:r>
          </a:p>
        </p:txBody>
      </p:sp>
      <p:sp>
        <p:nvSpPr>
          <p:cNvPr id="3" name="title-7">
            <a:extLst>
              <a:ext uri="{FF2B5EF4-FFF2-40B4-BE49-F238E27FC236}">
                <a16:creationId xmlns:a16="http://schemas.microsoft.com/office/drawing/2014/main" id="{E01B391B-4560-4B9D-9BE8-883A61EE7CB5}"/>
              </a:ext>
            </a:extLst>
          </p:cNvPr>
          <p:cNvSpPr>
            <a:spLocks noGrp="1"/>
          </p:cNvSpPr>
          <p:nvPr/>
        </p:nvSpPr>
        <p:spPr>
          <a:xfrm>
            <a:off x="685800" y="838200"/>
            <a:ext cx="10477500" cy="876300"/>
          </a:xfrm>
          <a:prstGeom prst="rect">
            <a:avLst/>
          </a:prstGeom>
          <a:noFill/>
          <a:ln w="0">
            <a:noFill/>
            <a:prstDash val="solid"/>
          </a:ln>
        </p:spPr>
        <p:txBody>
          <a:bodyPr/>
          <a:lstStyle/>
          <a:p>
            <a:pPr algn="l">
              <a:buNone/>
              <a:defRPr sz="2625" b="1">
                <a:solidFill>
                  <a:srgbClr val="003223"/>
                </a:solidFill>
              </a:defRPr>
            </a:pPr>
            <a:r>
              <a:rPr sz="2625" b="1">
                <a:solidFill>
                  <a:srgbClr val="003223"/>
                </a:solidFill>
              </a:rPr>
              <a:t>How the calculator turns input into insight</a:t>
            </a:r>
          </a:p>
        </p:txBody>
      </p:sp>
      <p:sp>
        <p:nvSpPr>
          <p:cNvPr id="4" name="subtitle-7">
            <a:extLst>
              <a:ext uri="{FF2B5EF4-FFF2-40B4-BE49-F238E27FC236}">
                <a16:creationId xmlns:a16="http://schemas.microsoft.com/office/drawing/2014/main" id="{059D528A-2B52-41CA-B933-0BF1543EF01C}"/>
              </a:ext>
            </a:extLst>
          </p:cNvPr>
          <p:cNvSpPr>
            <a:spLocks noGrp="1"/>
          </p:cNvSpPr>
          <p:nvPr/>
        </p:nvSpPr>
        <p:spPr>
          <a:xfrm>
            <a:off x="685800" y="1790700"/>
            <a:ext cx="10001250" cy="419100"/>
          </a:xfrm>
          <a:prstGeom prst="rect">
            <a:avLst/>
          </a:prstGeom>
          <a:noFill/>
          <a:ln w="0">
            <a:noFill/>
            <a:prstDash val="solid"/>
          </a:ln>
        </p:spPr>
        <p:txBody>
          <a:bodyPr/>
          <a:lstStyle/>
          <a:p>
            <a:pPr algn="l">
              <a:buNone/>
              <a:defRPr sz="1275" b="1">
                <a:solidFill>
                  <a:srgbClr val="465F56"/>
                </a:solidFill>
              </a:defRPr>
            </a:pPr>
            <a:r>
              <a:rPr sz="1275" b="1">
                <a:solidFill>
                  <a:srgbClr val="465F56"/>
                </a:solidFill>
              </a:rPr>
              <a:t>USER INPUT → CALCULATION ENGINE → FACTORS &amp; DATA → VISUAL RESULTS</a:t>
            </a:r>
          </a:p>
        </p:txBody>
      </p:sp>
      <p:sp>
        <p:nvSpPr>
          <p:cNvPr id="38" name="presenter-placeholder">
            <a:extLst>
              <a:ext uri="{FF2B5EF4-FFF2-40B4-BE49-F238E27FC236}">
                <a16:creationId xmlns:a16="http://schemas.microsoft.com/office/drawing/2014/main" id="{1C9F25A6-D74A-7322-5787-369E26F36CA8}"/>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dirty="0">
                <a:solidFill>
                  <a:srgbClr val="465F56"/>
                </a:solidFill>
              </a:rPr>
              <a:t>Presenter: [</a:t>
            </a:r>
            <a:r>
              <a:rPr lang="en-US" sz="825" b="1" dirty="0">
                <a:solidFill>
                  <a:srgbClr val="465F56"/>
                </a:solidFill>
              </a:rPr>
              <a:t>Roub Li</a:t>
            </a:r>
            <a:r>
              <a:rPr sz="825" b="1" dirty="0">
                <a:solidFill>
                  <a:srgbClr val="465F56"/>
                </a:solidFill>
              </a:rPr>
              <a:t>]</a:t>
            </a:r>
          </a:p>
        </p:txBody>
      </p:sp>
      <p:pic>
        <p:nvPicPr>
          <p:cNvPr id="47" name="图片 46"/>
          <p:cNvPicPr>
            <a:picLocks noChangeAspect="1"/>
          </p:cNvPicPr>
          <p:nvPr/>
        </p:nvPicPr>
        <p:blipFill>
          <a:blip r:embed="rId3"/>
          <a:stretch/>
        </p:blipFill>
        <p:spPr>
          <a:xfrm>
            <a:off x="685800" y="2517183"/>
            <a:ext cx="10820400" cy="2223684"/>
          </a:xfrm>
          <a:prstGeom prst="rect">
            <a:avLst/>
          </a:prstGeom>
        </p:spPr>
      </p:pic>
      <p:sp>
        <p:nvSpPr>
          <p:cNvPr id="40" name="architecture-takeaway">
            <a:extLst>
              <a:ext uri="{FF2B5EF4-FFF2-40B4-BE49-F238E27FC236}">
                <a16:creationId xmlns:a16="http://schemas.microsoft.com/office/drawing/2014/main" id="{B7A10FCB-94A3-420E-8F0D-4D3E78DBFB98}"/>
              </a:ext>
            </a:extLst>
          </p:cNvPr>
          <p:cNvSpPr>
            <a:spLocks noGrp="1"/>
          </p:cNvSpPr>
          <p:nvPr/>
        </p:nvSpPr>
        <p:spPr>
          <a:xfrm>
            <a:off x="1066800" y="5067300"/>
            <a:ext cx="10058400" cy="400050"/>
          </a:xfrm>
          <a:prstGeom prst="rect">
            <a:avLst/>
          </a:prstGeom>
          <a:noFill/>
          <a:ln w="0">
            <a:noFill/>
            <a:prstDash val="solid"/>
          </a:ln>
        </p:spPr>
        <p:txBody>
          <a:bodyPr/>
          <a:lstStyle/>
          <a:p>
            <a:pPr algn="ctr">
              <a:buNone/>
              <a:defRPr sz="1425" b="1">
                <a:solidFill>
                  <a:srgbClr val="003223"/>
                </a:solidFill>
              </a:defRPr>
            </a:pPr>
            <a:r>
              <a:rPr sz="1425" b="1">
                <a:solidFill>
                  <a:srgbClr val="003223"/>
                </a:solidFill>
              </a:rPr>
              <a:t>A clear front end is supported by a maintainable calculation pipeline — from user input to business insight.</a:t>
            </a:r>
          </a:p>
        </p:txBody>
      </p:sp>
    </p:spTree>
    <p:extLst>
      <p:ext uri="{BB962C8B-B14F-4D97-AF65-F5344CB8AC3E}">
        <p14:creationId xmlns:p14="http://schemas.microsoft.com/office/powerpoint/2010/main" val="447011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8" name="text">
            <a:extLst>
              <a:ext uri="{FF2B5EF4-FFF2-40B4-BE49-F238E27FC236}">
                <a16:creationId xmlns:a16="http://schemas.microsoft.com/office/drawing/2014/main" id="{0360B9F8-9946-480F-AD82-9A9D87A1498B}"/>
              </a:ext>
            </a:extLst>
          </p:cNvPr>
          <p:cNvSpPr>
            <a:spLocks noGrp="1"/>
          </p:cNvSpPr>
          <p:nvPr/>
        </p:nvSpPr>
        <p:spPr>
          <a:xfrm>
            <a:off x="685800" y="476250"/>
            <a:ext cx="7620000" cy="266700"/>
          </a:xfrm>
          <a:prstGeom prst="rect">
            <a:avLst/>
          </a:prstGeom>
          <a:noFill/>
          <a:ln w="0">
            <a:noFill/>
            <a:prstDash val="solid"/>
          </a:ln>
        </p:spPr>
        <p:txBody>
          <a:bodyPr/>
          <a:lstStyle/>
          <a:p>
            <a:pPr algn="l">
              <a:buNone/>
              <a:defRPr sz="975" b="1">
                <a:solidFill>
                  <a:srgbClr val="465F56"/>
                </a:solidFill>
              </a:defRPr>
            </a:pPr>
            <a:r>
              <a:rPr sz="975" b="1">
                <a:solidFill>
                  <a:srgbClr val="465F56"/>
                </a:solidFill>
              </a:rPr>
              <a:t>TEAM FIT · WORKING PROTOTYPE · CALCULATION, DATA &amp; UX SKILLS</a:t>
            </a:r>
          </a:p>
        </p:txBody>
      </p:sp>
      <p:sp>
        <p:nvSpPr>
          <p:cNvPr id="2" name="text">
            <a:extLst>
              <a:ext uri="{FF2B5EF4-FFF2-40B4-BE49-F238E27FC236}">
                <a16:creationId xmlns:a16="http://schemas.microsoft.com/office/drawing/2014/main" id="{A737A1C6-7C69-4565-85E8-8E309D92521D}"/>
              </a:ext>
            </a:extLst>
          </p:cNvPr>
          <p:cNvSpPr>
            <a:spLocks noGrp="1"/>
          </p:cNvSpPr>
          <p:nvPr/>
        </p:nvSpPr>
        <p:spPr>
          <a:xfrm>
            <a:off x="685800" y="1200150"/>
            <a:ext cx="8572500" cy="1162050"/>
          </a:xfrm>
          <a:prstGeom prst="rect">
            <a:avLst/>
          </a:prstGeom>
          <a:noFill/>
          <a:ln w="0">
            <a:noFill/>
            <a:prstDash val="solid"/>
          </a:ln>
        </p:spPr>
        <p:txBody>
          <a:bodyPr/>
          <a:lstStyle/>
          <a:p>
            <a:pPr algn="l">
              <a:buNone/>
              <a:defRPr sz="3300" b="1">
                <a:solidFill>
                  <a:srgbClr val="003223"/>
                </a:solidFill>
              </a:defRPr>
            </a:pPr>
            <a:r>
              <a:rPr sz="3300" b="1">
                <a:solidFill>
                  <a:srgbClr val="003223"/>
                </a:solidFill>
              </a:rPr>
              <a:t>We are not simply building</a:t>
            </a:r>
          </a:p>
          <a:p>
            <a:pPr algn="l">
              <a:buNone/>
              <a:defRPr sz="3300" b="1">
                <a:solidFill>
                  <a:srgbClr val="003223"/>
                </a:solidFill>
              </a:defRPr>
            </a:pPr>
            <a:r>
              <a:rPr sz="3300" b="1">
                <a:solidFill>
                  <a:srgbClr val="003223"/>
                </a:solidFill>
              </a:rPr>
              <a:t>another calculator.</a:t>
            </a:r>
          </a:p>
        </p:txBody>
      </p:sp>
      <p:sp>
        <p:nvSpPr>
          <p:cNvPr id="3" name="text">
            <a:extLst>
              <a:ext uri="{FF2B5EF4-FFF2-40B4-BE49-F238E27FC236}">
                <a16:creationId xmlns:a16="http://schemas.microsoft.com/office/drawing/2014/main" id="{5BC913EC-D1D8-4785-99D5-EEE47EEABF2C}"/>
              </a:ext>
            </a:extLst>
          </p:cNvPr>
          <p:cNvSpPr>
            <a:spLocks noGrp="1"/>
          </p:cNvSpPr>
          <p:nvPr/>
        </p:nvSpPr>
        <p:spPr>
          <a:xfrm>
            <a:off x="685800" y="2667000"/>
            <a:ext cx="8953500" cy="666750"/>
          </a:xfrm>
          <a:prstGeom prst="rect">
            <a:avLst/>
          </a:prstGeom>
          <a:noFill/>
          <a:ln w="0">
            <a:noFill/>
            <a:prstDash val="solid"/>
          </a:ln>
        </p:spPr>
        <p:txBody>
          <a:bodyPr/>
          <a:lstStyle/>
          <a:p>
            <a:pPr algn="l">
              <a:buNone/>
              <a:defRPr sz="3150" b="1">
                <a:solidFill>
                  <a:srgbClr val="FF5032"/>
                </a:solidFill>
              </a:defRPr>
            </a:pPr>
            <a:r>
              <a:rPr sz="3150" b="1">
                <a:solidFill>
                  <a:srgbClr val="FF5032"/>
                </a:solidFill>
              </a:rPr>
              <a:t>We are giving food waste a voice.</a:t>
            </a:r>
          </a:p>
        </p:txBody>
      </p:sp>
      <p:sp>
        <p:nvSpPr>
          <p:cNvPr id="4" name="closing-thought">
            <a:extLst>
              <a:ext uri="{FF2B5EF4-FFF2-40B4-BE49-F238E27FC236}">
                <a16:creationId xmlns:a16="http://schemas.microsoft.com/office/drawing/2014/main" id="{E8A633E5-6CDA-4724-89E4-411365D83BA1}"/>
              </a:ext>
            </a:extLst>
          </p:cNvPr>
          <p:cNvSpPr>
            <a:spLocks noGrp="1"/>
          </p:cNvSpPr>
          <p:nvPr/>
        </p:nvSpPr>
        <p:spPr>
          <a:xfrm>
            <a:off x="685800" y="3905250"/>
            <a:ext cx="10820400" cy="1200150"/>
          </a:xfrm>
          <a:prstGeom prst="roundRect">
            <a:avLst>
              <a:gd name="adj" fmla="val 23810"/>
            </a:avLst>
          </a:prstGeom>
          <a:solidFill>
            <a:srgbClr val="DFF8ED"/>
          </a:solidFill>
          <a:ln w="9525">
            <a:solidFill>
              <a:srgbClr val="C8D7D1"/>
            </a:solidFill>
            <a:prstDash val="solid"/>
          </a:ln>
        </p:spPr>
        <p:style>
          <a:lnRef idx="0">
            <a:scrgbClr r="0" g="0" b="0"/>
          </a:lnRef>
          <a:fillRef idx="0">
            <a:scrgbClr r="0" g="0" b="0"/>
          </a:fillRef>
          <a:effectRef idx="7">
            <a:scrgbClr r="0" g="0" b="0"/>
          </a:effectRef>
          <a:fontRef idx="major"/>
        </p:style>
        <p:txBody>
          <a:bodyPr/>
          <a:lstStyle/>
          <a:p>
            <a:endParaRPr/>
          </a:p>
        </p:txBody>
      </p:sp>
      <p:sp>
        <p:nvSpPr>
          <p:cNvPr id="5" name="text">
            <a:extLst>
              <a:ext uri="{FF2B5EF4-FFF2-40B4-BE49-F238E27FC236}">
                <a16:creationId xmlns:a16="http://schemas.microsoft.com/office/drawing/2014/main" id="{98F73A45-5C92-4C7F-B4F2-A821CDA2EAB5}"/>
              </a:ext>
            </a:extLst>
          </p:cNvPr>
          <p:cNvSpPr>
            <a:spLocks noGrp="1"/>
          </p:cNvSpPr>
          <p:nvPr/>
        </p:nvSpPr>
        <p:spPr>
          <a:xfrm>
            <a:off x="1066800" y="4191000"/>
            <a:ext cx="10058400" cy="666750"/>
          </a:xfrm>
          <a:prstGeom prst="rect">
            <a:avLst/>
          </a:prstGeom>
          <a:noFill/>
          <a:ln w="0">
            <a:noFill/>
            <a:prstDash val="solid"/>
          </a:ln>
        </p:spPr>
        <p:txBody>
          <a:bodyPr/>
          <a:lstStyle/>
          <a:p>
            <a:pPr algn="ctr">
              <a:buNone/>
              <a:defRPr sz="1800" b="1">
                <a:solidFill>
                  <a:srgbClr val="003223"/>
                </a:solidFill>
              </a:defRPr>
            </a:pPr>
            <a:r>
              <a:rPr sz="1800" b="1">
                <a:solidFill>
                  <a:srgbClr val="003223"/>
                </a:solidFill>
              </a:rPr>
              <a:t>When businesses can finally see what is inside the bin, they can make better decisions about what happens before food reaches it.</a:t>
            </a:r>
          </a:p>
        </p:txBody>
      </p:sp>
      <p:sp>
        <p:nvSpPr>
          <p:cNvPr id="7" name="text">
            <a:extLst>
              <a:ext uri="{FF2B5EF4-FFF2-40B4-BE49-F238E27FC236}">
                <a16:creationId xmlns:a16="http://schemas.microsoft.com/office/drawing/2014/main" id="{8C87EAE2-F85E-448F-B3D2-BF225D63312F}"/>
              </a:ext>
            </a:extLst>
          </p:cNvPr>
          <p:cNvSpPr>
            <a:spLocks noGrp="1"/>
          </p:cNvSpPr>
          <p:nvPr/>
        </p:nvSpPr>
        <p:spPr>
          <a:xfrm>
            <a:off x="7810500" y="6115050"/>
            <a:ext cx="3695700" cy="209550"/>
          </a:xfrm>
          <a:prstGeom prst="rect">
            <a:avLst/>
          </a:prstGeom>
          <a:noFill/>
          <a:ln w="0">
            <a:noFill/>
            <a:prstDash val="solid"/>
          </a:ln>
        </p:spPr>
        <p:txBody>
          <a:bodyPr/>
          <a:lstStyle/>
          <a:p>
            <a:pPr algn="r">
              <a:buNone/>
              <a:defRPr sz="1050" b="1">
                <a:solidFill>
                  <a:srgbClr val="465F56"/>
                </a:solidFill>
              </a:defRPr>
            </a:pPr>
            <a:r>
              <a:rPr sz="1050" b="1">
                <a:solidFill>
                  <a:srgbClr val="465F56"/>
                </a:solidFill>
              </a:rPr>
              <a:t>TEAM 16 · 502 BAD GATEWAY</a:t>
            </a:r>
          </a:p>
        </p:txBody>
      </p:sp>
      <p:sp>
        <p:nvSpPr>
          <p:cNvPr id="9" name="presenter-placeholder">
            <a:extLst>
              <a:ext uri="{FF2B5EF4-FFF2-40B4-BE49-F238E27FC236}">
                <a16:creationId xmlns:a16="http://schemas.microsoft.com/office/drawing/2014/main" id="{97B4B517-C93C-427A-A3F6-5822DB956CC0}"/>
              </a:ext>
            </a:extLst>
          </p:cNvPr>
          <p:cNvSpPr>
            <a:spLocks noGrp="1"/>
          </p:cNvSpPr>
          <p:nvPr/>
        </p:nvSpPr>
        <p:spPr>
          <a:xfrm>
            <a:off x="9525000" y="6515100"/>
            <a:ext cx="1981200" cy="171450"/>
          </a:xfrm>
          <a:prstGeom prst="rect">
            <a:avLst/>
          </a:prstGeom>
          <a:noFill/>
          <a:ln w="0">
            <a:noFill/>
            <a:prstDash val="solid"/>
          </a:ln>
        </p:spPr>
        <p:txBody>
          <a:bodyPr/>
          <a:lstStyle/>
          <a:p>
            <a:pPr algn="r">
              <a:buNone/>
              <a:defRPr sz="825" b="1">
                <a:solidFill>
                  <a:srgbClr val="465F56"/>
                </a:solidFill>
              </a:defRPr>
            </a:pPr>
            <a:r>
              <a:rPr sz="825" b="1">
                <a:solidFill>
                  <a:srgbClr val="465F56"/>
                </a:solidFill>
              </a:rPr>
              <a:t>Presenter: [Roub Li &amp; Ziqi Zhong]</a:t>
            </a:r>
          </a:p>
        </p:txBody>
      </p:sp>
      <p:pic>
        <p:nvPicPr>
          <p:cNvPr id="18" name="图片 5"/>
          <p:cNvPicPr>
            <a:picLocks noChangeAspect="1"/>
          </p:cNvPicPr>
          <p:nvPr/>
        </p:nvPicPr>
        <p:blipFill>
          <a:blip r:embed="rId3"/>
          <a:stretch/>
        </p:blipFill>
        <p:spPr>
          <a:xfrm>
            <a:off x="8800748" y="742950"/>
            <a:ext cx="2552700" cy="742950"/>
          </a:xfrm>
          <a:prstGeom prst="rect">
            <a:avLst/>
          </a:prstGeom>
        </p:spPr>
      </p:pic>
    </p:spTree>
    <p:extLst>
      <p:ext uri="{BB962C8B-B14F-4D97-AF65-F5344CB8AC3E}">
        <p14:creationId xmlns:p14="http://schemas.microsoft.com/office/powerpoint/2010/main" val="16096097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1772</Words>
  <Application>Microsoft Office PowerPoint</Application>
  <DocSecurity>0</DocSecurity>
  <PresentationFormat>宽屏</PresentationFormat>
  <Paragraphs>286</Paragraphs>
  <Slides>16</Slides>
  <Notes>16</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16</vt:i4>
      </vt:variant>
    </vt:vector>
  </HeadingPairs>
  <TitlesOfParts>
    <vt:vector size="18"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aburrido</cp:lastModifiedBy>
  <cp:revision>4</cp:revision>
  <dcterms:created xsi:type="dcterms:W3CDTF">2026-08-08T02:36:56Z</dcterms:created>
  <dcterms:modified xsi:type="dcterms:W3CDTF">2026-08-09T09:31:20Z</dcterms:modified>
</cp:coreProperties>
</file>